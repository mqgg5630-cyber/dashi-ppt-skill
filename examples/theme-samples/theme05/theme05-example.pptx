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  <p:defaultTextStyle>
    <a:defPPr/>
    <a:lvl1pPr marL="0" algn="l"/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4F7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4F7FB">
          <a:alpha val="100000"/>
        </a:srgbClr>
      </a:solidFill>
      <a:effectLst/>
    </p:bgPr>
  </p:bg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8368" y="164592"/>
            <a:ext cx="1938528" cy="41148"/>
          </a:xfrm>
          <a:prstGeom prst="rect">
            <a:avLst/>
          </a:prstGeom>
          <a:solidFill>
            <a:srgbClr val="3A7DFF">
              <a:alpha val="100000"/>
            </a:srgbClr>
          </a:solidFill>
          <a:ln w="0">
            <a:noFill/>
          </a:ln>
        </p:spPr>
      </p:sp>
      <p:sp>
        <p:nvSpPr>
          <p:cNvPr id="3" name="Shape 3"/>
          <p:cNvSpPr/>
          <p:nvPr/>
        </p:nvSpPr>
        <p:spPr>
          <a:xfrm>
            <a:off x="2816352" y="164592"/>
            <a:ext cx="1938528" cy="41148"/>
          </a:xfrm>
          <a:prstGeom prst="rect">
            <a:avLst/>
          </a:prstGeom>
          <a:solidFill>
            <a:srgbClr val="21B6A8">
              <a:alpha val="100000"/>
            </a:srgbClr>
          </a:solidFill>
          <a:ln w="0">
            <a:noFill/>
          </a:ln>
        </p:spPr>
      </p:sp>
      <p:sp>
        <p:nvSpPr>
          <p:cNvPr id="4" name="Shape 4"/>
          <p:cNvSpPr/>
          <p:nvPr/>
        </p:nvSpPr>
        <p:spPr>
          <a:xfrm>
            <a:off x="4974336" y="164592"/>
            <a:ext cx="1938528" cy="41148"/>
          </a:xfrm>
          <a:prstGeom prst="rect">
            <a:avLst/>
          </a:prstGeom>
          <a:solidFill>
            <a:srgbClr val="7A5CE0">
              <a:alpha val="100000"/>
            </a:srgbClr>
          </a:solidFill>
          <a:ln w="0">
            <a:noFill/>
          </a:ln>
        </p:spPr>
      </p:sp>
      <p:sp>
        <p:nvSpPr>
          <p:cNvPr id="5" name="Shape 5"/>
          <p:cNvSpPr/>
          <p:nvPr/>
        </p:nvSpPr>
        <p:spPr>
          <a:xfrm>
            <a:off x="7132320" y="164592"/>
            <a:ext cx="1938528" cy="41148"/>
          </a:xfrm>
          <a:prstGeom prst="rect">
            <a:avLst/>
          </a:prstGeom>
          <a:solidFill>
            <a:srgbClr val="F39A3D">
              <a:alpha val="100000"/>
            </a:srgbClr>
          </a:solidFill>
          <a:ln w="0">
            <a:noFill/>
          </a:ln>
        </p:spPr>
      </p:sp>
      <p:sp>
        <p:nvSpPr>
          <p:cNvPr id="6" name="Shape 6"/>
          <p:cNvSpPr/>
          <p:nvPr/>
        </p:nvSpPr>
        <p:spPr>
          <a:xfrm>
            <a:off x="9290304" y="164592"/>
            <a:ext cx="1938528" cy="41148"/>
          </a:xfrm>
          <a:prstGeom prst="rect">
            <a:avLst/>
          </a:prstGeom>
          <a:solidFill>
            <a:srgbClr val="E95078">
              <a:alpha val="100000"/>
            </a:srgbClr>
          </a:solidFill>
          <a:ln w="0">
            <a:noFill/>
          </a:ln>
        </p:spPr>
      </p:sp>
      <p:sp>
        <p:nvSpPr>
          <p:cNvPr id="7" name="Shape 7"/>
          <p:cNvSpPr/>
          <p:nvPr/>
        </p:nvSpPr>
        <p:spPr>
          <a:xfrm>
            <a:off x="868680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8" name="Shape 8"/>
          <p:cNvSpPr/>
          <p:nvPr/>
        </p:nvSpPr>
        <p:spPr>
          <a:xfrm>
            <a:off x="1947672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9" name="Shape 9"/>
          <p:cNvSpPr/>
          <p:nvPr/>
        </p:nvSpPr>
        <p:spPr>
          <a:xfrm>
            <a:off x="3026664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0" name="Shape 10"/>
          <p:cNvSpPr/>
          <p:nvPr/>
        </p:nvSpPr>
        <p:spPr>
          <a:xfrm>
            <a:off x="4105656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1" name="Shape 11"/>
          <p:cNvSpPr/>
          <p:nvPr/>
        </p:nvSpPr>
        <p:spPr>
          <a:xfrm>
            <a:off x="5184648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2" name="Shape 12"/>
          <p:cNvSpPr/>
          <p:nvPr/>
        </p:nvSpPr>
        <p:spPr>
          <a:xfrm>
            <a:off x="6263640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3" name="Shape 13"/>
          <p:cNvSpPr/>
          <p:nvPr/>
        </p:nvSpPr>
        <p:spPr>
          <a:xfrm>
            <a:off x="7342632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4" name="Shape 14"/>
          <p:cNvSpPr/>
          <p:nvPr/>
        </p:nvSpPr>
        <p:spPr>
          <a:xfrm>
            <a:off x="8421624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5" name="Shape 15"/>
          <p:cNvSpPr/>
          <p:nvPr/>
        </p:nvSpPr>
        <p:spPr>
          <a:xfrm>
            <a:off x="9500616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6" name="Shape 16"/>
          <p:cNvSpPr/>
          <p:nvPr/>
        </p:nvSpPr>
        <p:spPr>
          <a:xfrm>
            <a:off x="10579608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7" name="Shape 17"/>
          <p:cNvSpPr/>
          <p:nvPr/>
        </p:nvSpPr>
        <p:spPr>
          <a:xfrm>
            <a:off x="11658600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8" name="Shape 18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CED9E8">
                <a:alpha val="100000"/>
              </a:srgbClr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6B7B91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6B7B91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theme05 · theme05_page004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色谱图表风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658368" y="566928"/>
            <a:ext cx="740664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rPr>
              <a:t>THEME05  /  色谱图表风  /  ANTIGRAVITY EDITION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658368" y="1115568"/>
            <a:ext cx="6446520" cy="12344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30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30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主题预览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94944" y="2633472"/>
            <a:ext cx="5212080" cy="6583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12 套视觉语言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694944" y="3675888"/>
            <a:ext cx="5120640" cy="6583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8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8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rPr>
              <a:t>选择主题，开始制作。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7498080" y="841248"/>
            <a:ext cx="356616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WORKFLOW STACK</a:t>
            </a:r>
          </a:p>
        </p:txBody>
      </p:sp>
      <p:sp>
        <p:nvSpPr>
          <p:cNvPr id="26" name="Shape 26"/>
          <p:cNvSpPr/>
          <p:nvPr/>
        </p:nvSpPr>
        <p:spPr>
          <a:xfrm>
            <a:off x="7479792" y="1325880"/>
            <a:ext cx="3886200" cy="786384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ED9E8">
                <a:alpha val="100000"/>
              </a:srgbClr>
            </a:solidFill>
          </a:ln>
        </p:spPr>
      </p:sp>
      <p:sp>
        <p:nvSpPr>
          <p:cNvPr id="27" name="Text 27"/>
          <p:cNvSpPr txBox="1"/>
          <p:nvPr/>
        </p:nvSpPr>
        <p:spPr>
          <a:xfrm>
            <a:off x="7699248" y="1499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7A5CE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7A5CE0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8174736" y="1472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rPr>
              <a:t>Agent Skill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174736" y="1783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方法与质量边界</a:t>
            </a:r>
          </a:p>
        </p:txBody>
      </p:sp>
      <p:sp>
        <p:nvSpPr>
          <p:cNvPr id="30" name="Shape 30"/>
          <p:cNvSpPr/>
          <p:nvPr/>
        </p:nvSpPr>
        <p:spPr>
          <a:xfrm>
            <a:off x="9418320" y="2130552"/>
            <a:ext cx="1" cy="292608"/>
          </a:xfrm>
          <a:prstGeom prst="line">
            <a:avLst/>
          </a:prstGeom>
          <a:noFill/>
          <a:ln w="17780" cap="flat">
            <a:solidFill>
              <a:srgbClr val="7A5CE0">
                <a:alpha val="100000"/>
              </a:srgbClr>
            </a:solidFill>
            <a:tailEnd type="triangle" w="sm" len="sm"/>
          </a:ln>
        </p:spPr>
      </p:sp>
      <p:sp>
        <p:nvSpPr>
          <p:cNvPr id="31" name="Shape 31"/>
          <p:cNvSpPr/>
          <p:nvPr/>
        </p:nvSpPr>
        <p:spPr>
          <a:xfrm>
            <a:off x="7479792" y="2468880"/>
            <a:ext cx="3886200" cy="786384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ED9E8">
                <a:alpha val="100000"/>
              </a:srgbClr>
            </a:solidFill>
          </a:ln>
        </p:spPr>
      </p:sp>
      <p:sp>
        <p:nvSpPr>
          <p:cNvPr id="32" name="Text 32"/>
          <p:cNvSpPr txBox="1"/>
          <p:nvPr/>
        </p:nvSpPr>
        <p:spPr>
          <a:xfrm>
            <a:off x="7699248" y="2642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21B6A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21B6A8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8174736" y="2615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Server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8174736" y="2926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工具连接与执行</a:t>
            </a:r>
          </a:p>
        </p:txBody>
      </p:sp>
      <p:sp>
        <p:nvSpPr>
          <p:cNvPr id="35" name="Shape 35"/>
          <p:cNvSpPr/>
          <p:nvPr/>
        </p:nvSpPr>
        <p:spPr>
          <a:xfrm>
            <a:off x="9418320" y="3273552"/>
            <a:ext cx="1" cy="292608"/>
          </a:xfrm>
          <a:prstGeom prst="line">
            <a:avLst/>
          </a:prstGeom>
          <a:noFill/>
          <a:ln w="17780" cap="flat">
            <a:solidFill>
              <a:srgbClr val="21B6A8">
                <a:alpha val="100000"/>
              </a:srgbClr>
            </a:solidFill>
            <a:tailEnd type="triangle" w="sm" len="sm"/>
          </a:ln>
        </p:spPr>
      </p:sp>
      <p:sp>
        <p:nvSpPr>
          <p:cNvPr id="36" name="Shape 36"/>
          <p:cNvSpPr/>
          <p:nvPr/>
        </p:nvSpPr>
        <p:spPr>
          <a:xfrm>
            <a:off x="7479792" y="3611880"/>
            <a:ext cx="3886200" cy="786384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ED9E8">
                <a:alpha val="100000"/>
              </a:srgbClr>
            </a:solidFill>
          </a:ln>
        </p:spPr>
      </p:sp>
      <p:sp>
        <p:nvSpPr>
          <p:cNvPr id="37" name="Text 37"/>
          <p:cNvSpPr txBox="1"/>
          <p:nvPr/>
        </p:nvSpPr>
        <p:spPr>
          <a:xfrm>
            <a:off x="7699248" y="3785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8174736" y="3758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rPr>
              <a:t>Dashi Runtime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8174736" y="4069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HTML / PPTX 产物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6949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6949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视觉主题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25237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1,020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25237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版式页面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43525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8,576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43525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可调控件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10698480" y="6199632"/>
            <a:ext cx="7315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100001" name="Slide number 1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4F7FB">
          <a:alpha val="100000"/>
        </a:srgbClr>
      </a:solidFill>
      <a:effectLst/>
    </p:bgPr>
  </p:bg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/>
          <p:nvPr/>
        </p:nvSpPr>
        <p:spPr>
          <a:xfrm>
            <a:off x="658368" y="164592"/>
            <a:ext cx="1938528" cy="41148"/>
          </a:xfrm>
          <a:prstGeom prst="rect">
            <a:avLst/>
          </a:prstGeom>
          <a:solidFill>
            <a:srgbClr val="3A7DFF">
              <a:alpha val="100000"/>
            </a:srgbClr>
          </a:solidFill>
          <a:ln w="0">
            <a:noFill/>
          </a:ln>
        </p:spPr>
      </p:sp>
      <p:sp>
        <p:nvSpPr>
          <p:cNvPr id="48" name="Shape 48"/>
          <p:cNvSpPr/>
          <p:nvPr/>
        </p:nvSpPr>
        <p:spPr>
          <a:xfrm>
            <a:off x="2816352" y="164592"/>
            <a:ext cx="1938528" cy="41148"/>
          </a:xfrm>
          <a:prstGeom prst="rect">
            <a:avLst/>
          </a:prstGeom>
          <a:solidFill>
            <a:srgbClr val="21B6A8">
              <a:alpha val="100000"/>
            </a:srgbClr>
          </a:solidFill>
          <a:ln w="0">
            <a:noFill/>
          </a:ln>
        </p:spPr>
      </p:sp>
      <p:sp>
        <p:nvSpPr>
          <p:cNvPr id="49" name="Shape 49"/>
          <p:cNvSpPr/>
          <p:nvPr/>
        </p:nvSpPr>
        <p:spPr>
          <a:xfrm>
            <a:off x="4974336" y="164592"/>
            <a:ext cx="1938528" cy="41148"/>
          </a:xfrm>
          <a:prstGeom prst="rect">
            <a:avLst/>
          </a:prstGeom>
          <a:solidFill>
            <a:srgbClr val="7A5CE0">
              <a:alpha val="100000"/>
            </a:srgbClr>
          </a:solidFill>
          <a:ln w="0">
            <a:noFill/>
          </a:ln>
        </p:spPr>
      </p:sp>
      <p:sp>
        <p:nvSpPr>
          <p:cNvPr id="50" name="Shape 50"/>
          <p:cNvSpPr/>
          <p:nvPr/>
        </p:nvSpPr>
        <p:spPr>
          <a:xfrm>
            <a:off x="7132320" y="164592"/>
            <a:ext cx="1938528" cy="41148"/>
          </a:xfrm>
          <a:prstGeom prst="rect">
            <a:avLst/>
          </a:prstGeom>
          <a:solidFill>
            <a:srgbClr val="F39A3D">
              <a:alpha val="100000"/>
            </a:srgbClr>
          </a:solidFill>
          <a:ln w="0">
            <a:noFill/>
          </a:ln>
        </p:spPr>
      </p:sp>
      <p:sp>
        <p:nvSpPr>
          <p:cNvPr id="51" name="Shape 51"/>
          <p:cNvSpPr/>
          <p:nvPr/>
        </p:nvSpPr>
        <p:spPr>
          <a:xfrm>
            <a:off x="9290304" y="164592"/>
            <a:ext cx="1938528" cy="41148"/>
          </a:xfrm>
          <a:prstGeom prst="rect">
            <a:avLst/>
          </a:prstGeom>
          <a:solidFill>
            <a:srgbClr val="E95078">
              <a:alpha val="100000"/>
            </a:srgbClr>
          </a:solidFill>
          <a:ln w="0">
            <a:noFill/>
          </a:ln>
        </p:spPr>
      </p:sp>
      <p:sp>
        <p:nvSpPr>
          <p:cNvPr id="52" name="Shape 52"/>
          <p:cNvSpPr/>
          <p:nvPr/>
        </p:nvSpPr>
        <p:spPr>
          <a:xfrm>
            <a:off x="868680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53" name="Shape 53"/>
          <p:cNvSpPr/>
          <p:nvPr/>
        </p:nvSpPr>
        <p:spPr>
          <a:xfrm>
            <a:off x="1947672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54" name="Shape 54"/>
          <p:cNvSpPr/>
          <p:nvPr/>
        </p:nvSpPr>
        <p:spPr>
          <a:xfrm>
            <a:off x="3026664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55" name="Shape 55"/>
          <p:cNvSpPr/>
          <p:nvPr/>
        </p:nvSpPr>
        <p:spPr>
          <a:xfrm>
            <a:off x="4105656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56" name="Shape 56"/>
          <p:cNvSpPr/>
          <p:nvPr/>
        </p:nvSpPr>
        <p:spPr>
          <a:xfrm>
            <a:off x="5184648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57" name="Shape 57"/>
          <p:cNvSpPr/>
          <p:nvPr/>
        </p:nvSpPr>
        <p:spPr>
          <a:xfrm>
            <a:off x="6263640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58" name="Shape 58"/>
          <p:cNvSpPr/>
          <p:nvPr/>
        </p:nvSpPr>
        <p:spPr>
          <a:xfrm>
            <a:off x="7342632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59" name="Shape 59"/>
          <p:cNvSpPr/>
          <p:nvPr/>
        </p:nvSpPr>
        <p:spPr>
          <a:xfrm>
            <a:off x="8421624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60" name="Shape 60"/>
          <p:cNvSpPr/>
          <p:nvPr/>
        </p:nvSpPr>
        <p:spPr>
          <a:xfrm>
            <a:off x="9500616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61" name="Shape 61"/>
          <p:cNvSpPr/>
          <p:nvPr/>
        </p:nvSpPr>
        <p:spPr>
          <a:xfrm>
            <a:off x="10579608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62" name="Shape 62"/>
          <p:cNvSpPr/>
          <p:nvPr/>
        </p:nvSpPr>
        <p:spPr>
          <a:xfrm>
            <a:off x="11658600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63" name="Shape 63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CED9E8">
                <a:alpha val="100000"/>
              </a:srgbClr>
            </a:solidFill>
          </a:ln>
        </p:spPr>
      </p:sp>
      <p:sp>
        <p:nvSpPr>
          <p:cNvPr id="64" name="Text 64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6B7B91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6B7B91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theme05 · theme05_page065</a:t>
            </a:r>
          </a:p>
        </p:txBody>
      </p:sp>
      <p:sp>
        <p:nvSpPr>
          <p:cNvPr id="65" name="Text 65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色谱图表风</a:t>
            </a:r>
          </a:p>
        </p:txBody>
      </p:sp>
      <p:sp>
        <p:nvSpPr>
          <p:cNvPr id="66" name="Text 66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rPr>
              <a:t>DESIGN LANGUAGE</a:t>
            </a:r>
          </a:p>
        </p:txBody>
      </p:sp>
      <p:sp>
        <p:nvSpPr>
          <p:cNvPr id="67" name="Text 67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主题决定第一印象，也决定信息节奏</a:t>
            </a:r>
          </a:p>
        </p:txBody>
      </p:sp>
      <p:sp>
        <p:nvSpPr>
          <p:cNvPr id="68" name="Text 68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同一份内容可以用不同视觉语言表达，重点、密度和情绪随主题变化。</a:t>
            </a:r>
          </a:p>
        </p:txBody>
      </p:sp>
      <p:sp>
        <p:nvSpPr>
          <p:cNvPr id="69" name="Text 69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0" name="Shape 70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CED9E8">
                <a:alpha val="100000"/>
              </a:srgbClr>
            </a:solidFill>
          </a:ln>
        </p:spPr>
      </p:sp>
      <p:sp>
        <p:nvSpPr>
          <p:cNvPr id="71" name="Shape 71"/>
          <p:cNvSpPr/>
          <p:nvPr/>
        </p:nvSpPr>
        <p:spPr>
          <a:xfrm>
            <a:off x="685800" y="1874520"/>
            <a:ext cx="3401568" cy="28346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ED9E8">
                <a:alpha val="100000"/>
              </a:srgbClr>
            </a:solidFill>
          </a:ln>
        </p:spPr>
      </p:sp>
      <p:sp>
        <p:nvSpPr>
          <p:cNvPr id="72" name="Text 72"/>
          <p:cNvSpPr txBox="1"/>
          <p:nvPr/>
        </p:nvSpPr>
        <p:spPr>
          <a:xfrm>
            <a:off x="941832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7A5CE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7A5CE0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3" name="Text 73"/>
          <p:cNvSpPr txBox="1"/>
          <p:nvPr/>
        </p:nvSpPr>
        <p:spPr>
          <a:xfrm>
            <a:off x="2862072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7A5CE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7A5CE0">
                    <a:alpha val="100000"/>
                  </a:srgbClr>
                </a:solidFill>
                <a:latin typeface="Aptos"/>
                <a:ea typeface="Aptos"/>
                <a:cs typeface="Aptos"/>
              </a:rPr>
              <a:t>SKILL</a:t>
            </a:r>
          </a:p>
        </p:txBody>
      </p:sp>
      <p:sp>
        <p:nvSpPr>
          <p:cNvPr id="74" name="Text 74"/>
          <p:cNvSpPr txBox="1"/>
          <p:nvPr/>
        </p:nvSpPr>
        <p:spPr>
          <a:xfrm>
            <a:off x="941832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语气</a:t>
            </a:r>
          </a:p>
        </p:txBody>
      </p:sp>
      <p:sp>
        <p:nvSpPr>
          <p:cNvPr id="75" name="Text 75"/>
          <p:cNvSpPr txBox="1"/>
          <p:nvPr/>
        </p:nvSpPr>
        <p:spPr>
          <a:xfrm>
            <a:off x="941832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从克制研究到高能增长，先确定表达气质</a:t>
            </a:r>
          </a:p>
        </p:txBody>
      </p:sp>
      <p:sp>
        <p:nvSpPr>
          <p:cNvPr id="76" name="Shape 76"/>
          <p:cNvSpPr/>
          <p:nvPr/>
        </p:nvSpPr>
        <p:spPr>
          <a:xfrm>
            <a:off x="941832" y="4315968"/>
            <a:ext cx="2743200" cy="1"/>
          </a:xfrm>
          <a:prstGeom prst="line">
            <a:avLst/>
          </a:prstGeom>
          <a:noFill/>
          <a:ln w="25400" cap="flat">
            <a:solidFill>
              <a:srgbClr val="7A5CE0">
                <a:alpha val="100000"/>
              </a:srgbClr>
            </a:solidFill>
          </a:ln>
        </p:spPr>
      </p:sp>
      <p:sp>
        <p:nvSpPr>
          <p:cNvPr id="77" name="Shape 77"/>
          <p:cNvSpPr/>
          <p:nvPr/>
        </p:nvSpPr>
        <p:spPr>
          <a:xfrm>
            <a:off x="4507992" y="1874520"/>
            <a:ext cx="3401568" cy="28346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ED9E8">
                <a:alpha val="100000"/>
              </a:srgbClr>
            </a:solidFill>
          </a:ln>
        </p:spPr>
      </p:sp>
      <p:sp>
        <p:nvSpPr>
          <p:cNvPr id="78" name="Text 78"/>
          <p:cNvSpPr txBox="1"/>
          <p:nvPr/>
        </p:nvSpPr>
        <p:spPr>
          <a:xfrm>
            <a:off x="4764024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21B6A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21B6A8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9" name="Text 79"/>
          <p:cNvSpPr txBox="1"/>
          <p:nvPr/>
        </p:nvSpPr>
        <p:spPr>
          <a:xfrm>
            <a:off x="6684264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21B6A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21B6A8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4764024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层级</a:t>
            </a:r>
          </a:p>
        </p:txBody>
      </p:sp>
      <p:sp>
        <p:nvSpPr>
          <p:cNvPr id="81" name="Text 81"/>
          <p:cNvSpPr txBox="1"/>
          <p:nvPr/>
        </p:nvSpPr>
        <p:spPr>
          <a:xfrm>
            <a:off x="4764024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主题内置标题、指标、图表与留白规则</a:t>
            </a:r>
          </a:p>
        </p:txBody>
      </p:sp>
      <p:sp>
        <p:nvSpPr>
          <p:cNvPr id="82" name="Shape 82"/>
          <p:cNvSpPr/>
          <p:nvPr/>
        </p:nvSpPr>
        <p:spPr>
          <a:xfrm>
            <a:off x="4764024" y="4315968"/>
            <a:ext cx="2743200" cy="1"/>
          </a:xfrm>
          <a:prstGeom prst="line">
            <a:avLst/>
          </a:prstGeom>
          <a:noFill/>
          <a:ln w="25400" cap="flat">
            <a:solidFill>
              <a:srgbClr val="21B6A8">
                <a:alpha val="100000"/>
              </a:srgbClr>
            </a:solidFill>
          </a:ln>
        </p:spPr>
      </p:sp>
      <p:sp>
        <p:nvSpPr>
          <p:cNvPr id="83" name="Shape 83"/>
          <p:cNvSpPr/>
          <p:nvPr/>
        </p:nvSpPr>
        <p:spPr>
          <a:xfrm>
            <a:off x="8330184" y="1874520"/>
            <a:ext cx="3401568" cy="28346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ED9E8">
                <a:alpha val="100000"/>
              </a:srgbClr>
            </a:solidFill>
          </a:ln>
        </p:spPr>
      </p:sp>
      <p:sp>
        <p:nvSpPr>
          <p:cNvPr id="84" name="Text 84"/>
          <p:cNvSpPr txBox="1"/>
          <p:nvPr/>
        </p:nvSpPr>
        <p:spPr>
          <a:xfrm>
            <a:off x="8586216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5" name="Text 85"/>
          <p:cNvSpPr txBox="1"/>
          <p:nvPr/>
        </p:nvSpPr>
        <p:spPr>
          <a:xfrm>
            <a:off x="10506456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86" name="Text 86"/>
          <p:cNvSpPr txBox="1"/>
          <p:nvPr/>
        </p:nvSpPr>
        <p:spPr>
          <a:xfrm>
            <a:off x="8586216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一致性</a:t>
            </a:r>
          </a:p>
        </p:txBody>
      </p:sp>
      <p:sp>
        <p:nvSpPr>
          <p:cNvPr id="87" name="Text 87"/>
          <p:cNvSpPr txBox="1"/>
          <p:nvPr/>
        </p:nvSpPr>
        <p:spPr>
          <a:xfrm>
            <a:off x="8586216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整份 deck 使用同一套视觉系统，减少手工调整</a:t>
            </a:r>
          </a:p>
        </p:txBody>
      </p:sp>
      <p:sp>
        <p:nvSpPr>
          <p:cNvPr id="88" name="Shape 88"/>
          <p:cNvSpPr/>
          <p:nvPr/>
        </p:nvSpPr>
        <p:spPr>
          <a:xfrm>
            <a:off x="8586216" y="4315968"/>
            <a:ext cx="2743200" cy="1"/>
          </a:xfrm>
          <a:prstGeom prst="line">
            <a:avLst/>
          </a:prstGeom>
          <a:noFill/>
          <a:ln w="25400" cap="flat">
            <a:solidFill>
              <a:srgbClr val="3A7DFF">
                <a:alpha val="100000"/>
              </a:srgbClr>
            </a:solidFill>
          </a:ln>
        </p:spPr>
      </p:sp>
      <p:sp>
        <p:nvSpPr>
          <p:cNvPr id="89" name="Text 89"/>
          <p:cNvSpPr txBox="1"/>
          <p:nvPr/>
        </p:nvSpPr>
        <p:spPr>
          <a:xfrm>
            <a:off x="731520" y="5230368"/>
            <a:ext cx="10789920" cy="47548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6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rPr>
              <a:t>先选对主题，再让版式服务于内容。</a:t>
            </a:r>
          </a:p>
        </p:txBody>
      </p:sp>
      <p:sp>
        <p:nvSpPr>
          <p:cNvPr id="100002" name="Slide number 2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4F7FB">
          <a:alpha val="100000"/>
        </a:srgbClr>
      </a:solidFill>
      <a:effectLst/>
    </p:bgPr>
  </p:bg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/>
          <p:nvPr/>
        </p:nvSpPr>
        <p:spPr>
          <a:xfrm>
            <a:off x="658368" y="164592"/>
            <a:ext cx="1938528" cy="41148"/>
          </a:xfrm>
          <a:prstGeom prst="rect">
            <a:avLst/>
          </a:prstGeom>
          <a:solidFill>
            <a:srgbClr val="3A7DFF">
              <a:alpha val="100000"/>
            </a:srgbClr>
          </a:solidFill>
          <a:ln w="0">
            <a:noFill/>
          </a:ln>
        </p:spPr>
      </p:sp>
      <p:sp>
        <p:nvSpPr>
          <p:cNvPr id="91" name="Shape 91"/>
          <p:cNvSpPr/>
          <p:nvPr/>
        </p:nvSpPr>
        <p:spPr>
          <a:xfrm>
            <a:off x="2816352" y="164592"/>
            <a:ext cx="1938528" cy="41148"/>
          </a:xfrm>
          <a:prstGeom prst="rect">
            <a:avLst/>
          </a:prstGeom>
          <a:solidFill>
            <a:srgbClr val="21B6A8">
              <a:alpha val="100000"/>
            </a:srgbClr>
          </a:solidFill>
          <a:ln w="0">
            <a:noFill/>
          </a:ln>
        </p:spPr>
      </p:sp>
      <p:sp>
        <p:nvSpPr>
          <p:cNvPr id="92" name="Shape 92"/>
          <p:cNvSpPr/>
          <p:nvPr/>
        </p:nvSpPr>
        <p:spPr>
          <a:xfrm>
            <a:off x="4974336" y="164592"/>
            <a:ext cx="1938528" cy="41148"/>
          </a:xfrm>
          <a:prstGeom prst="rect">
            <a:avLst/>
          </a:prstGeom>
          <a:solidFill>
            <a:srgbClr val="7A5CE0">
              <a:alpha val="100000"/>
            </a:srgbClr>
          </a:solidFill>
          <a:ln w="0">
            <a:noFill/>
          </a:ln>
        </p:spPr>
      </p:sp>
      <p:sp>
        <p:nvSpPr>
          <p:cNvPr id="93" name="Shape 93"/>
          <p:cNvSpPr/>
          <p:nvPr/>
        </p:nvSpPr>
        <p:spPr>
          <a:xfrm>
            <a:off x="7132320" y="164592"/>
            <a:ext cx="1938528" cy="41148"/>
          </a:xfrm>
          <a:prstGeom prst="rect">
            <a:avLst/>
          </a:prstGeom>
          <a:solidFill>
            <a:srgbClr val="F39A3D">
              <a:alpha val="100000"/>
            </a:srgbClr>
          </a:solidFill>
          <a:ln w="0">
            <a:noFill/>
          </a:ln>
        </p:spPr>
      </p:sp>
      <p:sp>
        <p:nvSpPr>
          <p:cNvPr id="94" name="Shape 94"/>
          <p:cNvSpPr/>
          <p:nvPr/>
        </p:nvSpPr>
        <p:spPr>
          <a:xfrm>
            <a:off x="9290304" y="164592"/>
            <a:ext cx="1938528" cy="41148"/>
          </a:xfrm>
          <a:prstGeom prst="rect">
            <a:avLst/>
          </a:prstGeom>
          <a:solidFill>
            <a:srgbClr val="E95078">
              <a:alpha val="100000"/>
            </a:srgbClr>
          </a:solidFill>
          <a:ln w="0">
            <a:noFill/>
          </a:ln>
        </p:spPr>
      </p:sp>
      <p:sp>
        <p:nvSpPr>
          <p:cNvPr id="95" name="Shape 95"/>
          <p:cNvSpPr/>
          <p:nvPr/>
        </p:nvSpPr>
        <p:spPr>
          <a:xfrm>
            <a:off x="868680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96" name="Shape 96"/>
          <p:cNvSpPr/>
          <p:nvPr/>
        </p:nvSpPr>
        <p:spPr>
          <a:xfrm>
            <a:off x="1947672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97" name="Shape 97"/>
          <p:cNvSpPr/>
          <p:nvPr/>
        </p:nvSpPr>
        <p:spPr>
          <a:xfrm>
            <a:off x="3026664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98" name="Shape 98"/>
          <p:cNvSpPr/>
          <p:nvPr/>
        </p:nvSpPr>
        <p:spPr>
          <a:xfrm>
            <a:off x="4105656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99" name="Shape 99"/>
          <p:cNvSpPr/>
          <p:nvPr/>
        </p:nvSpPr>
        <p:spPr>
          <a:xfrm>
            <a:off x="5184648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00" name="Shape 100"/>
          <p:cNvSpPr/>
          <p:nvPr/>
        </p:nvSpPr>
        <p:spPr>
          <a:xfrm>
            <a:off x="6263640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01" name="Shape 101"/>
          <p:cNvSpPr/>
          <p:nvPr/>
        </p:nvSpPr>
        <p:spPr>
          <a:xfrm>
            <a:off x="7342632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02" name="Shape 102"/>
          <p:cNvSpPr/>
          <p:nvPr/>
        </p:nvSpPr>
        <p:spPr>
          <a:xfrm>
            <a:off x="8421624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03" name="Shape 103"/>
          <p:cNvSpPr/>
          <p:nvPr/>
        </p:nvSpPr>
        <p:spPr>
          <a:xfrm>
            <a:off x="9500616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04" name="Shape 104"/>
          <p:cNvSpPr/>
          <p:nvPr/>
        </p:nvSpPr>
        <p:spPr>
          <a:xfrm>
            <a:off x="10579608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05" name="Shape 105"/>
          <p:cNvSpPr/>
          <p:nvPr/>
        </p:nvSpPr>
        <p:spPr>
          <a:xfrm>
            <a:off x="11658600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06" name="Shape 106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CED9E8">
                <a:alpha val="100000"/>
              </a:srgbClr>
            </a:solidFill>
          </a:ln>
        </p:spPr>
      </p:sp>
      <p:sp>
        <p:nvSpPr>
          <p:cNvPr id="107" name="Text 107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6B7B91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6B7B91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theme05 · theme05_page009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色谱图表风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rPr>
              <a:t>SYSTEM AT A GLANCE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内置资源让每一页都有可选方案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Dashi PPT 将主题、版式和可调控件组合成可复用的页面系统。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3" name="Shape 113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CED9E8">
                <a:alpha val="100000"/>
              </a:srgbClr>
            </a:solidFill>
          </a:ln>
        </p:spPr>
      </p:sp>
      <p:sp>
        <p:nvSpPr>
          <p:cNvPr id="114" name="Shape 114"/>
          <p:cNvSpPr/>
          <p:nvPr/>
        </p:nvSpPr>
        <p:spPr>
          <a:xfrm>
            <a:off x="685800" y="1783080"/>
            <a:ext cx="4892040" cy="1325880"/>
          </a:xfrm>
          <a:prstGeom prst="roundRect">
            <a:avLst/>
          </a:prstGeom>
          <a:solidFill>
            <a:srgbClr val="EAF3FF">
              <a:alpha val="100000"/>
            </a:srgbClr>
          </a:solidFill>
          <a:ln w="10160" cap="flat">
            <a:solidFill>
              <a:srgbClr val="CED9E8">
                <a:alpha val="100000"/>
              </a:srgbClr>
            </a:solidFill>
          </a:ln>
        </p:spPr>
      </p:sp>
      <p:sp>
        <p:nvSpPr>
          <p:cNvPr id="115" name="Text 115"/>
          <p:cNvSpPr txBox="1"/>
          <p:nvPr/>
        </p:nvSpPr>
        <p:spPr>
          <a:xfrm>
            <a:off x="960120" y="201168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3A7D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3A7D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2441448" y="222199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套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3200400" y="201168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2514600" y="253288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覆盖多种业务叙事场景</a:t>
            </a:r>
          </a:p>
        </p:txBody>
      </p:sp>
      <p:sp>
        <p:nvSpPr>
          <p:cNvPr id="119" name="Shape 119"/>
          <p:cNvSpPr/>
          <p:nvPr/>
        </p:nvSpPr>
        <p:spPr>
          <a:xfrm>
            <a:off x="6172200" y="1783080"/>
            <a:ext cx="4892040" cy="132588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ED9E8">
                <a:alpha val="100000"/>
              </a:srgbClr>
            </a:solidFill>
          </a:ln>
        </p:spPr>
      </p:sp>
      <p:sp>
        <p:nvSpPr>
          <p:cNvPr id="120" name="Text 120"/>
          <p:cNvSpPr txBox="1"/>
          <p:nvPr/>
        </p:nvSpPr>
        <p:spPr>
          <a:xfrm>
            <a:off x="6446520" y="201168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1,020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7927848" y="222199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页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8686800" y="201168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rPr>
              <a:t>版式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8001000" y="253288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20 类页面角色</a:t>
            </a:r>
          </a:p>
        </p:txBody>
      </p:sp>
      <p:sp>
        <p:nvSpPr>
          <p:cNvPr id="124" name="Shape 124"/>
          <p:cNvSpPr/>
          <p:nvPr/>
        </p:nvSpPr>
        <p:spPr>
          <a:xfrm>
            <a:off x="685800" y="3566160"/>
            <a:ext cx="4892040" cy="132588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ED9E8">
                <a:alpha val="100000"/>
              </a:srgbClr>
            </a:solidFill>
          </a:ln>
        </p:spPr>
      </p:sp>
      <p:sp>
        <p:nvSpPr>
          <p:cNvPr id="125" name="Text 125"/>
          <p:cNvSpPr txBox="1"/>
          <p:nvPr/>
        </p:nvSpPr>
        <p:spPr>
          <a:xfrm>
            <a:off x="960120" y="379476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8,576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2441448" y="400507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个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3200400" y="379476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rPr>
              <a:t>控件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2514600" y="431596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支持布局、数量与配色调整</a:t>
            </a:r>
          </a:p>
        </p:txBody>
      </p:sp>
      <p:sp>
        <p:nvSpPr>
          <p:cNvPr id="129" name="Shape 129"/>
          <p:cNvSpPr/>
          <p:nvPr/>
        </p:nvSpPr>
        <p:spPr>
          <a:xfrm>
            <a:off x="6172200" y="3566160"/>
            <a:ext cx="4892040" cy="132588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ED9E8">
                <a:alpha val="100000"/>
              </a:srgbClr>
            </a:solidFill>
          </a:ln>
        </p:spPr>
      </p:sp>
      <p:sp>
        <p:nvSpPr>
          <p:cNvPr id="130" name="Text 130"/>
          <p:cNvSpPr txBox="1"/>
          <p:nvPr/>
        </p:nvSpPr>
        <p:spPr>
          <a:xfrm>
            <a:off x="6446520" y="379476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3 + 1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7927848" y="400507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种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8686800" y="379476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rPr>
              <a:t>候选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8001000" y="431596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三套模板加一套 Agent 定制方案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731520" y="5532120"/>
            <a:ext cx="10789920" cy="38404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rPr>
              <a:t>规模化制作的关键，是让选择和调整都可复用。</a:t>
            </a:r>
          </a:p>
        </p:txBody>
      </p:sp>
      <p:sp>
        <p:nvSpPr>
          <p:cNvPr id="100003" name="Slide number 3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4F7FB">
          <a:alpha val="100000"/>
        </a:srgbClr>
      </a:solidFill>
      <a:effectLst/>
    </p:bgPr>
  </p:bg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/>
          <p:nvPr/>
        </p:nvSpPr>
        <p:spPr>
          <a:xfrm>
            <a:off x="658368" y="164592"/>
            <a:ext cx="1938528" cy="41148"/>
          </a:xfrm>
          <a:prstGeom prst="rect">
            <a:avLst/>
          </a:prstGeom>
          <a:solidFill>
            <a:srgbClr val="3A7DFF">
              <a:alpha val="100000"/>
            </a:srgbClr>
          </a:solidFill>
          <a:ln w="0">
            <a:noFill/>
          </a:ln>
        </p:spPr>
      </p:sp>
      <p:sp>
        <p:nvSpPr>
          <p:cNvPr id="136" name="Shape 136"/>
          <p:cNvSpPr/>
          <p:nvPr/>
        </p:nvSpPr>
        <p:spPr>
          <a:xfrm>
            <a:off x="2816352" y="164592"/>
            <a:ext cx="1938528" cy="41148"/>
          </a:xfrm>
          <a:prstGeom prst="rect">
            <a:avLst/>
          </a:prstGeom>
          <a:solidFill>
            <a:srgbClr val="21B6A8">
              <a:alpha val="100000"/>
            </a:srgbClr>
          </a:solidFill>
          <a:ln w="0">
            <a:noFill/>
          </a:ln>
        </p:spPr>
      </p:sp>
      <p:sp>
        <p:nvSpPr>
          <p:cNvPr id="137" name="Shape 137"/>
          <p:cNvSpPr/>
          <p:nvPr/>
        </p:nvSpPr>
        <p:spPr>
          <a:xfrm>
            <a:off x="4974336" y="164592"/>
            <a:ext cx="1938528" cy="41148"/>
          </a:xfrm>
          <a:prstGeom prst="rect">
            <a:avLst/>
          </a:prstGeom>
          <a:solidFill>
            <a:srgbClr val="7A5CE0">
              <a:alpha val="100000"/>
            </a:srgbClr>
          </a:solidFill>
          <a:ln w="0">
            <a:noFill/>
          </a:ln>
        </p:spPr>
      </p:sp>
      <p:sp>
        <p:nvSpPr>
          <p:cNvPr id="138" name="Shape 138"/>
          <p:cNvSpPr/>
          <p:nvPr/>
        </p:nvSpPr>
        <p:spPr>
          <a:xfrm>
            <a:off x="7132320" y="164592"/>
            <a:ext cx="1938528" cy="41148"/>
          </a:xfrm>
          <a:prstGeom prst="rect">
            <a:avLst/>
          </a:prstGeom>
          <a:solidFill>
            <a:srgbClr val="F39A3D">
              <a:alpha val="100000"/>
            </a:srgbClr>
          </a:solidFill>
          <a:ln w="0">
            <a:noFill/>
          </a:ln>
        </p:spPr>
      </p:sp>
      <p:sp>
        <p:nvSpPr>
          <p:cNvPr id="139" name="Shape 139"/>
          <p:cNvSpPr/>
          <p:nvPr/>
        </p:nvSpPr>
        <p:spPr>
          <a:xfrm>
            <a:off x="9290304" y="164592"/>
            <a:ext cx="1938528" cy="41148"/>
          </a:xfrm>
          <a:prstGeom prst="rect">
            <a:avLst/>
          </a:prstGeom>
          <a:solidFill>
            <a:srgbClr val="E95078">
              <a:alpha val="100000"/>
            </a:srgbClr>
          </a:solidFill>
          <a:ln w="0">
            <a:noFill/>
          </a:ln>
        </p:spPr>
      </p:sp>
      <p:sp>
        <p:nvSpPr>
          <p:cNvPr id="140" name="Shape 140"/>
          <p:cNvSpPr/>
          <p:nvPr/>
        </p:nvSpPr>
        <p:spPr>
          <a:xfrm>
            <a:off x="868680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41" name="Shape 141"/>
          <p:cNvSpPr/>
          <p:nvPr/>
        </p:nvSpPr>
        <p:spPr>
          <a:xfrm>
            <a:off x="1947672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42" name="Shape 142"/>
          <p:cNvSpPr/>
          <p:nvPr/>
        </p:nvSpPr>
        <p:spPr>
          <a:xfrm>
            <a:off x="3026664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43" name="Shape 143"/>
          <p:cNvSpPr/>
          <p:nvPr/>
        </p:nvSpPr>
        <p:spPr>
          <a:xfrm>
            <a:off x="4105656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44" name="Shape 144"/>
          <p:cNvSpPr/>
          <p:nvPr/>
        </p:nvSpPr>
        <p:spPr>
          <a:xfrm>
            <a:off x="5184648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45" name="Shape 145"/>
          <p:cNvSpPr/>
          <p:nvPr/>
        </p:nvSpPr>
        <p:spPr>
          <a:xfrm>
            <a:off x="6263640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46" name="Shape 146"/>
          <p:cNvSpPr/>
          <p:nvPr/>
        </p:nvSpPr>
        <p:spPr>
          <a:xfrm>
            <a:off x="7342632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47" name="Shape 147"/>
          <p:cNvSpPr/>
          <p:nvPr/>
        </p:nvSpPr>
        <p:spPr>
          <a:xfrm>
            <a:off x="8421624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48" name="Shape 148"/>
          <p:cNvSpPr/>
          <p:nvPr/>
        </p:nvSpPr>
        <p:spPr>
          <a:xfrm>
            <a:off x="9500616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49" name="Shape 149"/>
          <p:cNvSpPr/>
          <p:nvPr/>
        </p:nvSpPr>
        <p:spPr>
          <a:xfrm>
            <a:off x="10579608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50" name="Shape 150"/>
          <p:cNvSpPr/>
          <p:nvPr/>
        </p:nvSpPr>
        <p:spPr>
          <a:xfrm>
            <a:off x="11658600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51" name="Shape 151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CED9E8">
                <a:alpha val="100000"/>
              </a:srgbClr>
            </a:solidFill>
          </a:ln>
        </p:spPr>
      </p:sp>
      <p:sp>
        <p:nvSpPr>
          <p:cNvPr id="152" name="Text 152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6B7B91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6B7B91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theme05 · theme05_page088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色谱图表风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从需求到交付，工作流只有五步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明确需求、组织内容、选择结构、渲染预览、导出交付。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8" name="Shape 158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CED9E8">
                <a:alpha val="100000"/>
              </a:srgbClr>
            </a:solidFill>
          </a:ln>
        </p:spPr>
      </p:sp>
      <p:sp>
        <p:nvSpPr>
          <p:cNvPr id="159" name="Shape 159"/>
          <p:cNvSpPr/>
          <p:nvPr/>
        </p:nvSpPr>
        <p:spPr>
          <a:xfrm>
            <a:off x="960120" y="3017520"/>
            <a:ext cx="10149840" cy="1"/>
          </a:xfrm>
          <a:prstGeom prst="line">
            <a:avLst/>
          </a:prstGeom>
          <a:noFill/>
          <a:ln w="25400" cap="flat">
            <a:solidFill>
              <a:srgbClr val="CED9E8">
                <a:alpha val="100000"/>
              </a:srgbClr>
            </a:solidFill>
          </a:ln>
        </p:spPr>
      </p:sp>
      <p:sp>
        <p:nvSpPr>
          <p:cNvPr id="160" name="Shape 160"/>
          <p:cNvSpPr/>
          <p:nvPr/>
        </p:nvSpPr>
        <p:spPr>
          <a:xfrm>
            <a:off x="941832" y="2788920"/>
            <a:ext cx="457200" cy="457200"/>
          </a:xfrm>
          <a:prstGeom prst="roundRect">
            <a:avLst/>
          </a:prstGeom>
          <a:solidFill>
            <a:srgbClr val="F4F7FB">
              <a:alpha val="100000"/>
            </a:srgbClr>
          </a:solidFill>
          <a:ln w="10160" cap="flat">
            <a:solidFill>
              <a:srgbClr val="3A7DFF">
                <a:alpha val="100000"/>
              </a:srgbClr>
            </a:solidFill>
          </a:ln>
        </p:spPr>
      </p:sp>
      <p:sp>
        <p:nvSpPr>
          <p:cNvPr id="161" name="Text 161"/>
          <p:cNvSpPr txBox="1"/>
          <p:nvPr/>
        </p:nvSpPr>
        <p:spPr>
          <a:xfrm>
            <a:off x="94183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71323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rPr>
              <a:t>01 需求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57607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主题、受众、页数、风格与格式</a:t>
            </a:r>
          </a:p>
        </p:txBody>
      </p:sp>
      <p:sp>
        <p:nvSpPr>
          <p:cNvPr id="164" name="Shape 164"/>
          <p:cNvSpPr/>
          <p:nvPr/>
        </p:nvSpPr>
        <p:spPr>
          <a:xfrm>
            <a:off x="3182112" y="2788920"/>
            <a:ext cx="457200" cy="457200"/>
          </a:xfrm>
          <a:prstGeom prst="roundRect">
            <a:avLst/>
          </a:prstGeom>
          <a:solidFill>
            <a:srgbClr val="F4F7FB">
              <a:alpha val="100000"/>
            </a:srgbClr>
          </a:solidFill>
          <a:ln w="10160" cap="flat">
            <a:solidFill>
              <a:srgbClr val="3A7DFF">
                <a:alpha val="100000"/>
              </a:srgbClr>
            </a:solidFill>
          </a:ln>
        </p:spPr>
      </p:sp>
      <p:sp>
        <p:nvSpPr>
          <p:cNvPr id="165" name="Text 165"/>
          <p:cNvSpPr txBox="1"/>
          <p:nvPr/>
        </p:nvSpPr>
        <p:spPr>
          <a:xfrm>
            <a:off x="318211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295351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rPr>
              <a:t>02 内容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281635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每页标题、结论、数字与事实源</a:t>
            </a:r>
          </a:p>
        </p:txBody>
      </p:sp>
      <p:sp>
        <p:nvSpPr>
          <p:cNvPr id="168" name="Shape 168"/>
          <p:cNvSpPr/>
          <p:nvPr/>
        </p:nvSpPr>
        <p:spPr>
          <a:xfrm>
            <a:off x="5422392" y="2788920"/>
            <a:ext cx="457200" cy="457200"/>
          </a:xfrm>
          <a:prstGeom prst="roundRect">
            <a:avLst/>
          </a:prstGeom>
          <a:solidFill>
            <a:srgbClr val="F4F7FB">
              <a:alpha val="100000"/>
            </a:srgbClr>
          </a:solidFill>
          <a:ln w="10160" cap="flat">
            <a:solidFill>
              <a:srgbClr val="3A7DFF">
                <a:alpha val="100000"/>
              </a:srgbClr>
            </a:solidFill>
          </a:ln>
        </p:spPr>
      </p:sp>
      <p:sp>
        <p:nvSpPr>
          <p:cNvPr id="169" name="Text 169"/>
          <p:cNvSpPr txBox="1"/>
          <p:nvPr/>
        </p:nvSpPr>
        <p:spPr>
          <a:xfrm>
            <a:off x="542239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519379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rPr>
              <a:t>03–05 交付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505663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结构选择、渲染校验与文件导出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731520" y="5577840"/>
            <a:ext cx="10789920" cy="36576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rPr>
              <a:t>把复杂制作拆成清晰步骤，团队更容易复用。</a:t>
            </a:r>
          </a:p>
        </p:txBody>
      </p:sp>
      <p:sp>
        <p:nvSpPr>
          <p:cNvPr id="100004" name="Slide number 4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4F7FB">
          <a:alpha val="100000"/>
        </a:srgbClr>
      </a:solidFill>
      <a:effectLst/>
    </p:bgPr>
  </p:bg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/>
          <p:nvPr/>
        </p:nvSpPr>
        <p:spPr>
          <a:xfrm>
            <a:off x="658368" y="164592"/>
            <a:ext cx="1938528" cy="41148"/>
          </a:xfrm>
          <a:prstGeom prst="rect">
            <a:avLst/>
          </a:prstGeom>
          <a:solidFill>
            <a:srgbClr val="3A7DFF">
              <a:alpha val="100000"/>
            </a:srgbClr>
          </a:solidFill>
          <a:ln w="0">
            <a:noFill/>
          </a:ln>
        </p:spPr>
      </p:sp>
      <p:sp>
        <p:nvSpPr>
          <p:cNvPr id="174" name="Shape 174"/>
          <p:cNvSpPr/>
          <p:nvPr/>
        </p:nvSpPr>
        <p:spPr>
          <a:xfrm>
            <a:off x="2816352" y="164592"/>
            <a:ext cx="1938528" cy="41148"/>
          </a:xfrm>
          <a:prstGeom prst="rect">
            <a:avLst/>
          </a:prstGeom>
          <a:solidFill>
            <a:srgbClr val="21B6A8">
              <a:alpha val="100000"/>
            </a:srgbClr>
          </a:solidFill>
          <a:ln w="0">
            <a:noFill/>
          </a:ln>
        </p:spPr>
      </p:sp>
      <p:sp>
        <p:nvSpPr>
          <p:cNvPr id="175" name="Shape 175"/>
          <p:cNvSpPr/>
          <p:nvPr/>
        </p:nvSpPr>
        <p:spPr>
          <a:xfrm>
            <a:off x="4974336" y="164592"/>
            <a:ext cx="1938528" cy="41148"/>
          </a:xfrm>
          <a:prstGeom prst="rect">
            <a:avLst/>
          </a:prstGeom>
          <a:solidFill>
            <a:srgbClr val="7A5CE0">
              <a:alpha val="100000"/>
            </a:srgbClr>
          </a:solidFill>
          <a:ln w="0">
            <a:noFill/>
          </a:ln>
        </p:spPr>
      </p:sp>
      <p:sp>
        <p:nvSpPr>
          <p:cNvPr id="176" name="Shape 176"/>
          <p:cNvSpPr/>
          <p:nvPr/>
        </p:nvSpPr>
        <p:spPr>
          <a:xfrm>
            <a:off x="7132320" y="164592"/>
            <a:ext cx="1938528" cy="41148"/>
          </a:xfrm>
          <a:prstGeom prst="rect">
            <a:avLst/>
          </a:prstGeom>
          <a:solidFill>
            <a:srgbClr val="F39A3D">
              <a:alpha val="100000"/>
            </a:srgbClr>
          </a:solidFill>
          <a:ln w="0">
            <a:noFill/>
          </a:ln>
        </p:spPr>
      </p:sp>
      <p:sp>
        <p:nvSpPr>
          <p:cNvPr id="177" name="Shape 177"/>
          <p:cNvSpPr/>
          <p:nvPr/>
        </p:nvSpPr>
        <p:spPr>
          <a:xfrm>
            <a:off x="9290304" y="164592"/>
            <a:ext cx="1938528" cy="41148"/>
          </a:xfrm>
          <a:prstGeom prst="rect">
            <a:avLst/>
          </a:prstGeom>
          <a:solidFill>
            <a:srgbClr val="E95078">
              <a:alpha val="100000"/>
            </a:srgbClr>
          </a:solidFill>
          <a:ln w="0">
            <a:noFill/>
          </a:ln>
        </p:spPr>
      </p:sp>
      <p:sp>
        <p:nvSpPr>
          <p:cNvPr id="178" name="Shape 178"/>
          <p:cNvSpPr/>
          <p:nvPr/>
        </p:nvSpPr>
        <p:spPr>
          <a:xfrm>
            <a:off x="868680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79" name="Shape 179"/>
          <p:cNvSpPr/>
          <p:nvPr/>
        </p:nvSpPr>
        <p:spPr>
          <a:xfrm>
            <a:off x="1947672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80" name="Shape 180"/>
          <p:cNvSpPr/>
          <p:nvPr/>
        </p:nvSpPr>
        <p:spPr>
          <a:xfrm>
            <a:off x="3026664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81" name="Shape 181"/>
          <p:cNvSpPr/>
          <p:nvPr/>
        </p:nvSpPr>
        <p:spPr>
          <a:xfrm>
            <a:off x="4105656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82" name="Shape 182"/>
          <p:cNvSpPr/>
          <p:nvPr/>
        </p:nvSpPr>
        <p:spPr>
          <a:xfrm>
            <a:off x="5184648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83" name="Shape 183"/>
          <p:cNvSpPr/>
          <p:nvPr/>
        </p:nvSpPr>
        <p:spPr>
          <a:xfrm>
            <a:off x="6263640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84" name="Shape 184"/>
          <p:cNvSpPr/>
          <p:nvPr/>
        </p:nvSpPr>
        <p:spPr>
          <a:xfrm>
            <a:off x="7342632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85" name="Shape 185"/>
          <p:cNvSpPr/>
          <p:nvPr/>
        </p:nvSpPr>
        <p:spPr>
          <a:xfrm>
            <a:off x="8421624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86" name="Shape 186"/>
          <p:cNvSpPr/>
          <p:nvPr/>
        </p:nvSpPr>
        <p:spPr>
          <a:xfrm>
            <a:off x="9500616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87" name="Shape 187"/>
          <p:cNvSpPr/>
          <p:nvPr/>
        </p:nvSpPr>
        <p:spPr>
          <a:xfrm>
            <a:off x="10579608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88" name="Shape 188"/>
          <p:cNvSpPr/>
          <p:nvPr/>
        </p:nvSpPr>
        <p:spPr>
          <a:xfrm>
            <a:off x="11658600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189" name="Shape 189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CED9E8">
                <a:alpha val="100000"/>
              </a:srgbClr>
            </a:solidFill>
          </a:ln>
        </p:spPr>
      </p:sp>
      <p:sp>
        <p:nvSpPr>
          <p:cNvPr id="190" name="Text 190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6B7B91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6B7B91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theme05 · theme05_page018</a:t>
            </a:r>
          </a:p>
        </p:txBody>
      </p:sp>
      <p:sp>
        <p:nvSpPr>
          <p:cNvPr id="191" name="Text 191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色谱图表风</a:t>
            </a:r>
          </a:p>
        </p:txBody>
      </p:sp>
      <p:sp>
        <p:nvSpPr>
          <p:cNvPr id="192" name="Text 192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rPr>
              <a:t>TEMPLATE PHILOSOPHY</a:t>
            </a:r>
          </a:p>
        </p:txBody>
      </p:sp>
      <p:sp>
        <p:nvSpPr>
          <p:cNvPr id="193" name="Text 193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模板是稳定的起点</a:t>
            </a:r>
          </a:p>
        </p:txBody>
      </p:sp>
      <p:sp>
        <p:nvSpPr>
          <p:cNvPr id="194" name="Text 194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保留系统，释放内容。</a:t>
            </a:r>
          </a:p>
        </p:txBody>
      </p:sp>
      <p:sp>
        <p:nvSpPr>
          <p:cNvPr id="195" name="Text 195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6" name="Shape 196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CED9E8">
                <a:alpha val="100000"/>
              </a:srgbClr>
            </a:solidFill>
          </a:ln>
        </p:spPr>
      </p:sp>
      <p:sp>
        <p:nvSpPr>
          <p:cNvPr id="197" name="Shape 197"/>
          <p:cNvSpPr/>
          <p:nvPr/>
        </p:nvSpPr>
        <p:spPr>
          <a:xfrm>
            <a:off x="685800" y="1783080"/>
            <a:ext cx="5212080" cy="361188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ED9E8">
                <a:alpha val="100000"/>
              </a:srgbClr>
            </a:solidFill>
          </a:ln>
        </p:spPr>
      </p:sp>
      <p:sp>
        <p:nvSpPr>
          <p:cNvPr id="198" name="Shape 198"/>
          <p:cNvSpPr/>
          <p:nvPr/>
        </p:nvSpPr>
        <p:spPr>
          <a:xfrm>
            <a:off x="6309360" y="1783080"/>
            <a:ext cx="5212080" cy="3611880"/>
          </a:xfrm>
          <a:prstGeom prst="roundRect">
            <a:avLst/>
          </a:prstGeom>
          <a:solidFill>
            <a:srgbClr val="EAF3FF">
              <a:alpha val="100000"/>
            </a:srgbClr>
          </a:solidFill>
          <a:ln w="10160" cap="flat">
            <a:solidFill>
              <a:srgbClr val="3A7DFF">
                <a:alpha val="100000"/>
              </a:srgbClr>
            </a:solidFill>
          </a:ln>
        </p:spPr>
      </p:sp>
      <p:sp>
        <p:nvSpPr>
          <p:cNvPr id="199" name="Text 199"/>
          <p:cNvSpPr txBox="1"/>
          <p:nvPr/>
        </p:nvSpPr>
        <p:spPr>
          <a:xfrm>
            <a:off x="1005840" y="2084832"/>
            <a:ext cx="201168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手工制作</a:t>
            </a:r>
          </a:p>
        </p:txBody>
      </p:sp>
      <p:sp>
        <p:nvSpPr>
          <p:cNvPr id="200" name="Text 200"/>
          <p:cNvSpPr txBox="1"/>
          <p:nvPr/>
        </p:nvSpPr>
        <p:spPr>
          <a:xfrm>
            <a:off x="6629400" y="2084832"/>
            <a:ext cx="25603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3A7D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3A7D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AGENT + MCP</a:t>
            </a:r>
          </a:p>
        </p:txBody>
      </p:sp>
      <p:sp>
        <p:nvSpPr>
          <p:cNvPr id="201" name="Shape 201"/>
          <p:cNvSpPr/>
          <p:nvPr/>
        </p:nvSpPr>
        <p:spPr>
          <a:xfrm>
            <a:off x="1005840" y="2761488"/>
            <a:ext cx="109728" cy="109728"/>
          </a:xfrm>
          <a:prstGeom prst="roundRect">
            <a:avLst/>
          </a:prstGeom>
          <a:solidFill>
            <a:srgbClr val="6B7B91">
              <a:alpha val="100000"/>
            </a:srgbClr>
          </a:solidFill>
          <a:ln w="10160" cap="flat">
            <a:solidFill>
              <a:srgbClr val="6B7B91">
                <a:alpha val="100000"/>
              </a:srgbClr>
            </a:solidFill>
          </a:ln>
        </p:spPr>
      </p:sp>
      <p:sp>
        <p:nvSpPr>
          <p:cNvPr id="202" name="Text 202"/>
          <p:cNvSpPr txBox="1"/>
          <p:nvPr/>
        </p:nvSpPr>
        <p:spPr>
          <a:xfrm>
            <a:off x="1261872" y="2724912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保留系统</a:t>
            </a:r>
          </a:p>
        </p:txBody>
      </p:sp>
      <p:sp>
        <p:nvSpPr>
          <p:cNvPr id="203" name="Text 203"/>
          <p:cNvSpPr txBox="1"/>
          <p:nvPr/>
        </p:nvSpPr>
        <p:spPr>
          <a:xfrm>
            <a:off x="1261872" y="3072384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字体、色彩、间距和组件保持统一</a:t>
            </a:r>
          </a:p>
        </p:txBody>
      </p:sp>
      <p:sp>
        <p:nvSpPr>
          <p:cNvPr id="204" name="Shape 204"/>
          <p:cNvSpPr/>
          <p:nvPr/>
        </p:nvSpPr>
        <p:spPr>
          <a:xfrm>
            <a:off x="1005840" y="3785616"/>
            <a:ext cx="109728" cy="109728"/>
          </a:xfrm>
          <a:prstGeom prst="roundRect">
            <a:avLst/>
          </a:prstGeom>
          <a:solidFill>
            <a:srgbClr val="6B7B91">
              <a:alpha val="100000"/>
            </a:srgbClr>
          </a:solidFill>
          <a:ln w="10160" cap="flat">
            <a:solidFill>
              <a:srgbClr val="6B7B91">
                <a:alpha val="100000"/>
              </a:srgbClr>
            </a:solidFill>
          </a:ln>
        </p:spPr>
      </p:sp>
      <p:sp>
        <p:nvSpPr>
          <p:cNvPr id="205" name="Text 205"/>
          <p:cNvSpPr txBox="1"/>
          <p:nvPr/>
        </p:nvSpPr>
        <p:spPr>
          <a:xfrm>
            <a:off x="1261872" y="3749040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快速迭代</a:t>
            </a:r>
          </a:p>
        </p:txBody>
      </p:sp>
      <p:sp>
        <p:nvSpPr>
          <p:cNvPr id="206" name="Text 206"/>
          <p:cNvSpPr txBox="1"/>
          <p:nvPr/>
        </p:nvSpPr>
        <p:spPr>
          <a:xfrm>
            <a:off x="1261872" y="4096512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不满意时可换版式、换主题、再导出</a:t>
            </a:r>
          </a:p>
        </p:txBody>
      </p:sp>
      <p:sp>
        <p:nvSpPr>
          <p:cNvPr id="207" name="Shape 207"/>
          <p:cNvSpPr/>
          <p:nvPr/>
        </p:nvSpPr>
        <p:spPr>
          <a:xfrm>
            <a:off x="6629400" y="2761488"/>
            <a:ext cx="109728" cy="109728"/>
          </a:xfrm>
          <a:prstGeom prst="roundRect">
            <a:avLst/>
          </a:prstGeom>
          <a:solidFill>
            <a:srgbClr val="3A7DFF">
              <a:alpha val="100000"/>
            </a:srgbClr>
          </a:solidFill>
          <a:ln w="10160" cap="flat">
            <a:solidFill>
              <a:srgbClr val="3A7DFF">
                <a:alpha val="100000"/>
              </a:srgbClr>
            </a:solidFill>
          </a:ln>
        </p:spPr>
      </p:sp>
      <p:sp>
        <p:nvSpPr>
          <p:cNvPr id="208" name="Text 208"/>
          <p:cNvSpPr txBox="1"/>
          <p:nvPr/>
        </p:nvSpPr>
        <p:spPr>
          <a:xfrm>
            <a:off x="6885432" y="2724912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rPr>
              <a:t>聚焦内容</a:t>
            </a:r>
          </a:p>
        </p:txBody>
      </p:sp>
      <p:sp>
        <p:nvSpPr>
          <p:cNvPr id="209" name="Text 209"/>
          <p:cNvSpPr txBox="1"/>
          <p:nvPr/>
        </p:nvSpPr>
        <p:spPr>
          <a:xfrm>
            <a:off x="6885432" y="3072384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只替换文案、数据和页面重点</a:t>
            </a:r>
          </a:p>
        </p:txBody>
      </p:sp>
      <p:sp>
        <p:nvSpPr>
          <p:cNvPr id="210" name="Shape 210"/>
          <p:cNvSpPr/>
          <p:nvPr/>
        </p:nvSpPr>
        <p:spPr>
          <a:xfrm>
            <a:off x="6629400" y="3785616"/>
            <a:ext cx="109728" cy="109728"/>
          </a:xfrm>
          <a:prstGeom prst="roundRect">
            <a:avLst/>
          </a:prstGeom>
          <a:solidFill>
            <a:srgbClr val="3A7DFF">
              <a:alpha val="100000"/>
            </a:srgbClr>
          </a:solidFill>
          <a:ln w="10160" cap="flat">
            <a:solidFill>
              <a:srgbClr val="3A7DFF">
                <a:alpha val="100000"/>
              </a:srgbClr>
            </a:solidFill>
          </a:ln>
        </p:spPr>
      </p:sp>
      <p:sp>
        <p:nvSpPr>
          <p:cNvPr id="211" name="Text 211"/>
          <p:cNvSpPr txBox="1"/>
          <p:nvPr/>
        </p:nvSpPr>
        <p:spPr>
          <a:xfrm>
            <a:off x="6885432" y="3749040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rPr>
              <a:t>源文件可交接</a:t>
            </a:r>
          </a:p>
        </p:txBody>
      </p:sp>
      <p:sp>
        <p:nvSpPr>
          <p:cNvPr id="212" name="Text 212"/>
          <p:cNvSpPr txBox="1"/>
          <p:nvPr/>
        </p:nvSpPr>
        <p:spPr>
          <a:xfrm>
            <a:off x="6885432" y="4096512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213" name="Text 213"/>
          <p:cNvSpPr txBox="1"/>
          <p:nvPr/>
        </p:nvSpPr>
        <p:spPr>
          <a:xfrm>
            <a:off x="731520" y="5715000"/>
            <a:ext cx="107899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rPr>
              <a:t>稳定边界，换来快速迭代。</a:t>
            </a:r>
          </a:p>
        </p:txBody>
      </p:sp>
      <p:sp>
        <p:nvSpPr>
          <p:cNvPr id="100005" name="Slide number 5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4F7FB">
          <a:alpha val="100000"/>
        </a:srgbClr>
      </a:solidFill>
      <a:effectLst/>
    </p:bgPr>
  </p:bg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/>
          <p:nvPr/>
        </p:nvSpPr>
        <p:spPr>
          <a:xfrm>
            <a:off x="658368" y="164592"/>
            <a:ext cx="1938528" cy="41148"/>
          </a:xfrm>
          <a:prstGeom prst="rect">
            <a:avLst/>
          </a:prstGeom>
          <a:solidFill>
            <a:srgbClr val="3A7DFF">
              <a:alpha val="100000"/>
            </a:srgbClr>
          </a:solidFill>
          <a:ln w="0">
            <a:noFill/>
          </a:ln>
        </p:spPr>
      </p:sp>
      <p:sp>
        <p:nvSpPr>
          <p:cNvPr id="215" name="Shape 215"/>
          <p:cNvSpPr/>
          <p:nvPr/>
        </p:nvSpPr>
        <p:spPr>
          <a:xfrm>
            <a:off x="2816352" y="164592"/>
            <a:ext cx="1938528" cy="41148"/>
          </a:xfrm>
          <a:prstGeom prst="rect">
            <a:avLst/>
          </a:prstGeom>
          <a:solidFill>
            <a:srgbClr val="21B6A8">
              <a:alpha val="100000"/>
            </a:srgbClr>
          </a:solidFill>
          <a:ln w="0">
            <a:noFill/>
          </a:ln>
        </p:spPr>
      </p:sp>
      <p:sp>
        <p:nvSpPr>
          <p:cNvPr id="216" name="Shape 216"/>
          <p:cNvSpPr/>
          <p:nvPr/>
        </p:nvSpPr>
        <p:spPr>
          <a:xfrm>
            <a:off x="4974336" y="164592"/>
            <a:ext cx="1938528" cy="41148"/>
          </a:xfrm>
          <a:prstGeom prst="rect">
            <a:avLst/>
          </a:prstGeom>
          <a:solidFill>
            <a:srgbClr val="7A5CE0">
              <a:alpha val="100000"/>
            </a:srgbClr>
          </a:solidFill>
          <a:ln w="0">
            <a:noFill/>
          </a:ln>
        </p:spPr>
      </p:sp>
      <p:sp>
        <p:nvSpPr>
          <p:cNvPr id="217" name="Shape 217"/>
          <p:cNvSpPr/>
          <p:nvPr/>
        </p:nvSpPr>
        <p:spPr>
          <a:xfrm>
            <a:off x="7132320" y="164592"/>
            <a:ext cx="1938528" cy="41148"/>
          </a:xfrm>
          <a:prstGeom prst="rect">
            <a:avLst/>
          </a:prstGeom>
          <a:solidFill>
            <a:srgbClr val="F39A3D">
              <a:alpha val="100000"/>
            </a:srgbClr>
          </a:solidFill>
          <a:ln w="0">
            <a:noFill/>
          </a:ln>
        </p:spPr>
      </p:sp>
      <p:sp>
        <p:nvSpPr>
          <p:cNvPr id="218" name="Shape 218"/>
          <p:cNvSpPr/>
          <p:nvPr/>
        </p:nvSpPr>
        <p:spPr>
          <a:xfrm>
            <a:off x="9290304" y="164592"/>
            <a:ext cx="1938528" cy="41148"/>
          </a:xfrm>
          <a:prstGeom prst="rect">
            <a:avLst/>
          </a:prstGeom>
          <a:solidFill>
            <a:srgbClr val="E95078">
              <a:alpha val="100000"/>
            </a:srgbClr>
          </a:solidFill>
          <a:ln w="0">
            <a:noFill/>
          </a:ln>
        </p:spPr>
      </p:sp>
      <p:sp>
        <p:nvSpPr>
          <p:cNvPr id="219" name="Shape 219"/>
          <p:cNvSpPr/>
          <p:nvPr/>
        </p:nvSpPr>
        <p:spPr>
          <a:xfrm>
            <a:off x="868680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220" name="Shape 220"/>
          <p:cNvSpPr/>
          <p:nvPr/>
        </p:nvSpPr>
        <p:spPr>
          <a:xfrm>
            <a:off x="1947672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221" name="Shape 221"/>
          <p:cNvSpPr/>
          <p:nvPr/>
        </p:nvSpPr>
        <p:spPr>
          <a:xfrm>
            <a:off x="3026664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222" name="Shape 222"/>
          <p:cNvSpPr/>
          <p:nvPr/>
        </p:nvSpPr>
        <p:spPr>
          <a:xfrm>
            <a:off x="4105656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223" name="Shape 223"/>
          <p:cNvSpPr/>
          <p:nvPr/>
        </p:nvSpPr>
        <p:spPr>
          <a:xfrm>
            <a:off x="5184648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224" name="Shape 224"/>
          <p:cNvSpPr/>
          <p:nvPr/>
        </p:nvSpPr>
        <p:spPr>
          <a:xfrm>
            <a:off x="6263640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225" name="Shape 225"/>
          <p:cNvSpPr/>
          <p:nvPr/>
        </p:nvSpPr>
        <p:spPr>
          <a:xfrm>
            <a:off x="7342632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226" name="Shape 226"/>
          <p:cNvSpPr/>
          <p:nvPr/>
        </p:nvSpPr>
        <p:spPr>
          <a:xfrm>
            <a:off x="8421624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227" name="Shape 227"/>
          <p:cNvSpPr/>
          <p:nvPr/>
        </p:nvSpPr>
        <p:spPr>
          <a:xfrm>
            <a:off x="9500616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228" name="Shape 228"/>
          <p:cNvSpPr/>
          <p:nvPr/>
        </p:nvSpPr>
        <p:spPr>
          <a:xfrm>
            <a:off x="10579608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229" name="Shape 229"/>
          <p:cNvSpPr/>
          <p:nvPr/>
        </p:nvSpPr>
        <p:spPr>
          <a:xfrm>
            <a:off x="11658600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230" name="Shape 230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CED9E8">
                <a:alpha val="100000"/>
              </a:srgbClr>
            </a:solidFill>
          </a:ln>
        </p:spPr>
      </p:sp>
      <p:sp>
        <p:nvSpPr>
          <p:cNvPr id="231" name="Text 231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6B7B91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6B7B91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theme05 · theme05_page036</a:t>
            </a:r>
          </a:p>
        </p:txBody>
      </p:sp>
      <p:sp>
        <p:nvSpPr>
          <p:cNvPr id="232" name="Text 232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色谱图表风</a:t>
            </a:r>
          </a:p>
        </p:txBody>
      </p:sp>
      <p:sp>
        <p:nvSpPr>
          <p:cNvPr id="233" name="Text 233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rPr>
              <a:t>AUTOMATION</a:t>
            </a:r>
          </a:p>
        </p:txBody>
      </p:sp>
      <p:sp>
        <p:nvSpPr>
          <p:cNvPr id="234" name="Text 234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从内容到成品，自动化逐层增加</a:t>
            </a:r>
          </a:p>
        </p:txBody>
      </p:sp>
      <p:sp>
        <p:nvSpPr>
          <p:cNvPr id="235" name="Text 235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查询、渲染、预览和导出让重复性工作交给工具完成。</a:t>
            </a:r>
          </a:p>
        </p:txBody>
      </p:sp>
      <p:sp>
        <p:nvSpPr>
          <p:cNvPr id="236" name="Text 236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7" name="Shape 237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CED9E8">
                <a:alpha val="100000"/>
              </a:srgbClr>
            </a:solidFill>
          </a:ln>
        </p:spPr>
      </p:sp>
      <p:sp>
        <p:nvSpPr>
          <p:cNvPr id="238" name="Text 238"/>
          <p:cNvSpPr txBox="1"/>
          <p:nvPr/>
        </p:nvSpPr>
        <p:spPr>
          <a:xfrm>
            <a:off x="749808" y="1673352"/>
            <a:ext cx="2926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AUTOMATION MATURITY</a:t>
            </a:r>
          </a:p>
        </p:txBody>
      </p:sp>
      <p:sp>
        <p:nvSpPr>
          <p:cNvPr id="239" name="Shape 239"/>
          <p:cNvSpPr/>
          <p:nvPr/>
        </p:nvSpPr>
        <p:spPr>
          <a:xfrm>
            <a:off x="960120" y="4800600"/>
            <a:ext cx="6858000" cy="1"/>
          </a:xfrm>
          <a:prstGeom prst="line">
            <a:avLst/>
          </a:prstGeom>
          <a:noFill/>
          <a:ln w="12700" cap="flat">
            <a:solidFill>
              <a:srgbClr val="CED9E8">
                <a:alpha val="100000"/>
              </a:srgbClr>
            </a:solidFill>
          </a:ln>
        </p:spPr>
      </p:sp>
      <p:sp>
        <p:nvSpPr>
          <p:cNvPr id="240" name="Shape 240"/>
          <p:cNvSpPr/>
          <p:nvPr/>
        </p:nvSpPr>
        <p:spPr>
          <a:xfrm>
            <a:off x="960120" y="2011680"/>
            <a:ext cx="1" cy="2788920"/>
          </a:xfrm>
          <a:prstGeom prst="line">
            <a:avLst/>
          </a:prstGeom>
          <a:noFill/>
          <a:ln w="12700" cap="flat">
            <a:solidFill>
              <a:srgbClr val="CED9E8">
                <a:alpha val="100000"/>
              </a:srgbClr>
            </a:solidFill>
          </a:ln>
        </p:spPr>
      </p:sp>
      <p:sp>
        <p:nvSpPr>
          <p:cNvPr id="241" name="Shape 241"/>
          <p:cNvSpPr/>
          <p:nvPr/>
        </p:nvSpPr>
        <p:spPr>
          <a:xfrm>
            <a:off x="960120" y="4800600"/>
            <a:ext cx="6858000" cy="1"/>
          </a:xfrm>
          <a:prstGeom prst="line">
            <a:avLst/>
          </a:prstGeom>
          <a:noFill/>
          <a:ln w="6350" cap="flat">
            <a:solidFill>
              <a:srgbClr val="CED9E8">
                <a:alpha val="55000"/>
              </a:srgbClr>
            </a:solidFill>
          </a:ln>
        </p:spPr>
      </p:sp>
      <p:sp>
        <p:nvSpPr>
          <p:cNvPr id="242" name="Text 242"/>
          <p:cNvSpPr txBox="1"/>
          <p:nvPr/>
        </p:nvSpPr>
        <p:spPr>
          <a:xfrm>
            <a:off x="594360" y="472744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43" name="Shape 243"/>
          <p:cNvSpPr/>
          <p:nvPr/>
        </p:nvSpPr>
        <p:spPr>
          <a:xfrm>
            <a:off x="960120" y="4103370"/>
            <a:ext cx="6858000" cy="1"/>
          </a:xfrm>
          <a:prstGeom prst="line">
            <a:avLst/>
          </a:prstGeom>
          <a:noFill/>
          <a:ln w="6350" cap="flat">
            <a:solidFill>
              <a:srgbClr val="CED9E8">
                <a:alpha val="55000"/>
              </a:srgbClr>
            </a:solidFill>
          </a:ln>
        </p:spPr>
      </p:sp>
      <p:sp>
        <p:nvSpPr>
          <p:cNvPr id="244" name="Text 244"/>
          <p:cNvSpPr txBox="1"/>
          <p:nvPr/>
        </p:nvSpPr>
        <p:spPr>
          <a:xfrm>
            <a:off x="594360" y="403021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245" name="Shape 245"/>
          <p:cNvSpPr/>
          <p:nvPr/>
        </p:nvSpPr>
        <p:spPr>
          <a:xfrm>
            <a:off x="960120" y="3406140"/>
            <a:ext cx="6858000" cy="1"/>
          </a:xfrm>
          <a:prstGeom prst="line">
            <a:avLst/>
          </a:prstGeom>
          <a:noFill/>
          <a:ln w="6350" cap="flat">
            <a:solidFill>
              <a:srgbClr val="CED9E8">
                <a:alpha val="55000"/>
              </a:srgbClr>
            </a:solidFill>
          </a:ln>
        </p:spPr>
      </p:sp>
      <p:sp>
        <p:nvSpPr>
          <p:cNvPr id="246" name="Text 246"/>
          <p:cNvSpPr txBox="1"/>
          <p:nvPr/>
        </p:nvSpPr>
        <p:spPr>
          <a:xfrm>
            <a:off x="594360" y="333298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247" name="Shape 247"/>
          <p:cNvSpPr/>
          <p:nvPr/>
        </p:nvSpPr>
        <p:spPr>
          <a:xfrm>
            <a:off x="960120" y="2708910"/>
            <a:ext cx="6858000" cy="1"/>
          </a:xfrm>
          <a:prstGeom prst="line">
            <a:avLst/>
          </a:prstGeom>
          <a:noFill/>
          <a:ln w="6350" cap="flat">
            <a:solidFill>
              <a:srgbClr val="CED9E8">
                <a:alpha val="55000"/>
              </a:srgbClr>
            </a:solidFill>
          </a:ln>
        </p:spPr>
      </p:sp>
      <p:sp>
        <p:nvSpPr>
          <p:cNvPr id="248" name="Text 248"/>
          <p:cNvSpPr txBox="1"/>
          <p:nvPr/>
        </p:nvSpPr>
        <p:spPr>
          <a:xfrm>
            <a:off x="594360" y="263575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75</a:t>
            </a:r>
          </a:p>
        </p:txBody>
      </p:sp>
      <p:sp>
        <p:nvSpPr>
          <p:cNvPr id="249" name="Shape 249"/>
          <p:cNvSpPr/>
          <p:nvPr/>
        </p:nvSpPr>
        <p:spPr>
          <a:xfrm>
            <a:off x="960120" y="2011680"/>
            <a:ext cx="6858000" cy="1"/>
          </a:xfrm>
          <a:prstGeom prst="line">
            <a:avLst/>
          </a:prstGeom>
          <a:noFill/>
          <a:ln w="6350" cap="flat">
            <a:solidFill>
              <a:srgbClr val="CED9E8">
                <a:alpha val="55000"/>
              </a:srgbClr>
            </a:solidFill>
          </a:ln>
        </p:spPr>
      </p:sp>
      <p:sp>
        <p:nvSpPr>
          <p:cNvPr id="250" name="Text 250"/>
          <p:cNvSpPr txBox="1"/>
          <p:nvPr/>
        </p:nvSpPr>
        <p:spPr>
          <a:xfrm>
            <a:off x="594360" y="193852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251" name="Shape 251"/>
          <p:cNvSpPr/>
          <p:nvPr/>
        </p:nvSpPr>
        <p:spPr>
          <a:xfrm>
            <a:off x="1335024" y="4021074"/>
            <a:ext cx="164592" cy="164592"/>
          </a:xfrm>
          <a:prstGeom prst="roundRect">
            <a:avLst/>
          </a:prstGeom>
          <a:solidFill>
            <a:srgbClr val="3A7DFF">
              <a:alpha val="100000"/>
            </a:srgbClr>
          </a:solidFill>
          <a:ln w="10160" cap="flat">
            <a:solidFill>
              <a:srgbClr val="3A7DFF">
                <a:alpha val="100000"/>
              </a:srgbClr>
            </a:solidFill>
          </a:ln>
        </p:spPr>
      </p:sp>
      <p:sp>
        <p:nvSpPr>
          <p:cNvPr id="252" name="Text 252"/>
          <p:cNvSpPr txBox="1"/>
          <p:nvPr/>
        </p:nvSpPr>
        <p:spPr>
          <a:xfrm>
            <a:off x="1097280" y="369189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253" name="Text 253"/>
          <p:cNvSpPr txBox="1"/>
          <p:nvPr/>
        </p:nvSpPr>
        <p:spPr>
          <a:xfrm>
            <a:off x="91440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内容</a:t>
            </a:r>
          </a:p>
        </p:txBody>
      </p:sp>
      <p:sp>
        <p:nvSpPr>
          <p:cNvPr id="254" name="Shape 254"/>
          <p:cNvSpPr/>
          <p:nvPr/>
        </p:nvSpPr>
        <p:spPr>
          <a:xfrm flipV="1">
            <a:off x="1417320" y="3406140"/>
            <a:ext cx="1965960" cy="697230"/>
          </a:xfrm>
          <a:prstGeom prst="line">
            <a:avLst/>
          </a:prstGeom>
          <a:noFill/>
          <a:ln w="31750" cap="flat">
            <a:solidFill>
              <a:srgbClr val="3A7DFF">
                <a:alpha val="100000"/>
              </a:srgbClr>
            </a:solidFill>
          </a:ln>
        </p:spPr>
      </p:sp>
      <p:sp>
        <p:nvSpPr>
          <p:cNvPr id="255" name="Shape 255"/>
          <p:cNvSpPr/>
          <p:nvPr/>
        </p:nvSpPr>
        <p:spPr>
          <a:xfrm>
            <a:off x="3300984" y="3323844"/>
            <a:ext cx="164592" cy="164592"/>
          </a:xfrm>
          <a:prstGeom prst="roundRect">
            <a:avLst/>
          </a:prstGeom>
          <a:solidFill>
            <a:srgbClr val="3A7DFF">
              <a:alpha val="100000"/>
            </a:srgbClr>
          </a:solidFill>
          <a:ln w="10160" cap="flat">
            <a:solidFill>
              <a:srgbClr val="3A7DFF">
                <a:alpha val="100000"/>
              </a:srgbClr>
            </a:solidFill>
          </a:ln>
        </p:spPr>
      </p:sp>
      <p:sp>
        <p:nvSpPr>
          <p:cNvPr id="256" name="Text 256"/>
          <p:cNvSpPr txBox="1"/>
          <p:nvPr/>
        </p:nvSpPr>
        <p:spPr>
          <a:xfrm>
            <a:off x="3063240" y="299466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257" name="Text 257"/>
          <p:cNvSpPr txBox="1"/>
          <p:nvPr/>
        </p:nvSpPr>
        <p:spPr>
          <a:xfrm>
            <a:off x="288036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结构</a:t>
            </a:r>
          </a:p>
        </p:txBody>
      </p:sp>
      <p:sp>
        <p:nvSpPr>
          <p:cNvPr id="258" name="Shape 258"/>
          <p:cNvSpPr/>
          <p:nvPr/>
        </p:nvSpPr>
        <p:spPr>
          <a:xfrm flipV="1">
            <a:off x="3383280" y="2708910"/>
            <a:ext cx="1965960" cy="697230"/>
          </a:xfrm>
          <a:prstGeom prst="line">
            <a:avLst/>
          </a:prstGeom>
          <a:noFill/>
          <a:ln w="31750" cap="flat">
            <a:solidFill>
              <a:srgbClr val="3A7DFF">
                <a:alpha val="100000"/>
              </a:srgbClr>
            </a:solidFill>
          </a:ln>
        </p:spPr>
      </p:sp>
      <p:sp>
        <p:nvSpPr>
          <p:cNvPr id="259" name="Shape 259"/>
          <p:cNvSpPr/>
          <p:nvPr/>
        </p:nvSpPr>
        <p:spPr>
          <a:xfrm>
            <a:off x="5266944" y="2626614"/>
            <a:ext cx="164592" cy="164592"/>
          </a:xfrm>
          <a:prstGeom prst="roundRect">
            <a:avLst/>
          </a:prstGeom>
          <a:solidFill>
            <a:srgbClr val="3A7DFF">
              <a:alpha val="100000"/>
            </a:srgbClr>
          </a:solidFill>
          <a:ln w="10160" cap="flat">
            <a:solidFill>
              <a:srgbClr val="3A7DFF">
                <a:alpha val="100000"/>
              </a:srgbClr>
            </a:solidFill>
          </a:ln>
        </p:spPr>
      </p:sp>
      <p:sp>
        <p:nvSpPr>
          <p:cNvPr id="260" name="Text 260"/>
          <p:cNvSpPr txBox="1"/>
          <p:nvPr/>
        </p:nvSpPr>
        <p:spPr>
          <a:xfrm>
            <a:off x="5029200" y="229743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rPr>
              <a:t>75%</a:t>
            </a:r>
          </a:p>
        </p:txBody>
      </p:sp>
      <p:sp>
        <p:nvSpPr>
          <p:cNvPr id="261" name="Text 261"/>
          <p:cNvSpPr txBox="1"/>
          <p:nvPr/>
        </p:nvSpPr>
        <p:spPr>
          <a:xfrm>
            <a:off x="484632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渲染</a:t>
            </a:r>
          </a:p>
        </p:txBody>
      </p:sp>
      <p:sp>
        <p:nvSpPr>
          <p:cNvPr id="262" name="Shape 262"/>
          <p:cNvSpPr/>
          <p:nvPr/>
        </p:nvSpPr>
        <p:spPr>
          <a:xfrm flipV="1">
            <a:off x="5349240" y="2011680"/>
            <a:ext cx="1965960" cy="697230"/>
          </a:xfrm>
          <a:prstGeom prst="line">
            <a:avLst/>
          </a:prstGeom>
          <a:noFill/>
          <a:ln w="31750" cap="flat">
            <a:solidFill>
              <a:srgbClr val="3A7DFF">
                <a:alpha val="100000"/>
              </a:srgbClr>
            </a:solidFill>
          </a:ln>
        </p:spPr>
      </p:sp>
      <p:sp>
        <p:nvSpPr>
          <p:cNvPr id="263" name="Shape 263"/>
          <p:cNvSpPr/>
          <p:nvPr/>
        </p:nvSpPr>
        <p:spPr>
          <a:xfrm>
            <a:off x="7232904" y="1929384"/>
            <a:ext cx="164592" cy="164592"/>
          </a:xfrm>
          <a:prstGeom prst="roundRect">
            <a:avLst/>
          </a:prstGeom>
          <a:solidFill>
            <a:srgbClr val="3A7DFF">
              <a:alpha val="100000"/>
            </a:srgbClr>
          </a:solidFill>
          <a:ln w="10160" cap="flat">
            <a:solidFill>
              <a:srgbClr val="3A7DFF">
                <a:alpha val="100000"/>
              </a:srgbClr>
            </a:solidFill>
          </a:ln>
        </p:spPr>
      </p:sp>
      <p:sp>
        <p:nvSpPr>
          <p:cNvPr id="264" name="Text 264"/>
          <p:cNvSpPr txBox="1"/>
          <p:nvPr/>
        </p:nvSpPr>
        <p:spPr>
          <a:xfrm>
            <a:off x="6995160" y="160020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265" name="Text 265"/>
          <p:cNvSpPr txBox="1"/>
          <p:nvPr/>
        </p:nvSpPr>
        <p:spPr>
          <a:xfrm>
            <a:off x="681228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交付</a:t>
            </a:r>
          </a:p>
        </p:txBody>
      </p:sp>
      <p:sp>
        <p:nvSpPr>
          <p:cNvPr id="266" name="Shape 266"/>
          <p:cNvSpPr/>
          <p:nvPr/>
        </p:nvSpPr>
        <p:spPr>
          <a:xfrm>
            <a:off x="8366760" y="1938528"/>
            <a:ext cx="3063240" cy="333756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ED9E8">
                <a:alpha val="100000"/>
              </a:srgbClr>
            </a:solidFill>
          </a:ln>
        </p:spPr>
      </p:sp>
      <p:sp>
        <p:nvSpPr>
          <p:cNvPr id="267" name="Text 267"/>
          <p:cNvSpPr txBox="1"/>
          <p:nvPr/>
        </p:nvSpPr>
        <p:spPr>
          <a:xfrm>
            <a:off x="8686800" y="2304288"/>
            <a:ext cx="137160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15263D">
                    <a:alpha val="100000"/>
                  </a:srgbClr>
                </a:solidFill>
                <a:latin typeface="Aptos"/>
                <a:ea typeface="Aptos"/>
                <a:cs typeface="Aptos"/>
              </a:rPr>
              <a:t>关键判断</a:t>
            </a:r>
          </a:p>
        </p:txBody>
      </p:sp>
      <p:sp>
        <p:nvSpPr>
          <p:cNvPr id="268" name="Text 268"/>
          <p:cNvSpPr txBox="1"/>
          <p:nvPr/>
        </p:nvSpPr>
        <p:spPr>
          <a:xfrm>
            <a:off x="8686800" y="3063240"/>
            <a:ext cx="2331720" cy="10058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连接工具，Skill 约束方法，Agent 保留判断。</a:t>
            </a:r>
          </a:p>
        </p:txBody>
      </p:sp>
      <p:sp>
        <p:nvSpPr>
          <p:cNvPr id="100006" name="Slide number 6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4F7FB">
          <a:alpha val="100000"/>
        </a:srgbClr>
      </a:solidFill>
      <a:effectLst/>
    </p:bgPr>
  </p:bg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269"/>
          <p:cNvSpPr/>
          <p:nvPr/>
        </p:nvSpPr>
        <p:spPr>
          <a:xfrm>
            <a:off x="658368" y="164592"/>
            <a:ext cx="1938528" cy="41148"/>
          </a:xfrm>
          <a:prstGeom prst="rect">
            <a:avLst/>
          </a:prstGeom>
          <a:solidFill>
            <a:srgbClr val="3A7DFF">
              <a:alpha val="100000"/>
            </a:srgbClr>
          </a:solidFill>
          <a:ln w="0">
            <a:noFill/>
          </a:ln>
        </p:spPr>
      </p:sp>
      <p:sp>
        <p:nvSpPr>
          <p:cNvPr id="270" name="Shape 270"/>
          <p:cNvSpPr/>
          <p:nvPr/>
        </p:nvSpPr>
        <p:spPr>
          <a:xfrm>
            <a:off x="2816352" y="164592"/>
            <a:ext cx="1938528" cy="41148"/>
          </a:xfrm>
          <a:prstGeom prst="rect">
            <a:avLst/>
          </a:prstGeom>
          <a:solidFill>
            <a:srgbClr val="21B6A8">
              <a:alpha val="100000"/>
            </a:srgbClr>
          </a:solidFill>
          <a:ln w="0">
            <a:noFill/>
          </a:ln>
        </p:spPr>
      </p:sp>
      <p:sp>
        <p:nvSpPr>
          <p:cNvPr id="271" name="Shape 271"/>
          <p:cNvSpPr/>
          <p:nvPr/>
        </p:nvSpPr>
        <p:spPr>
          <a:xfrm>
            <a:off x="4974336" y="164592"/>
            <a:ext cx="1938528" cy="41148"/>
          </a:xfrm>
          <a:prstGeom prst="rect">
            <a:avLst/>
          </a:prstGeom>
          <a:solidFill>
            <a:srgbClr val="7A5CE0">
              <a:alpha val="100000"/>
            </a:srgbClr>
          </a:solidFill>
          <a:ln w="0">
            <a:noFill/>
          </a:ln>
        </p:spPr>
      </p:sp>
      <p:sp>
        <p:nvSpPr>
          <p:cNvPr id="272" name="Shape 272"/>
          <p:cNvSpPr/>
          <p:nvPr/>
        </p:nvSpPr>
        <p:spPr>
          <a:xfrm>
            <a:off x="7132320" y="164592"/>
            <a:ext cx="1938528" cy="41148"/>
          </a:xfrm>
          <a:prstGeom prst="rect">
            <a:avLst/>
          </a:prstGeom>
          <a:solidFill>
            <a:srgbClr val="F39A3D">
              <a:alpha val="100000"/>
            </a:srgbClr>
          </a:solidFill>
          <a:ln w="0">
            <a:noFill/>
          </a:ln>
        </p:spPr>
      </p:sp>
      <p:sp>
        <p:nvSpPr>
          <p:cNvPr id="273" name="Shape 273"/>
          <p:cNvSpPr/>
          <p:nvPr/>
        </p:nvSpPr>
        <p:spPr>
          <a:xfrm>
            <a:off x="9290304" y="164592"/>
            <a:ext cx="1938528" cy="41148"/>
          </a:xfrm>
          <a:prstGeom prst="rect">
            <a:avLst/>
          </a:prstGeom>
          <a:solidFill>
            <a:srgbClr val="E95078">
              <a:alpha val="100000"/>
            </a:srgbClr>
          </a:solidFill>
          <a:ln w="0">
            <a:noFill/>
          </a:ln>
        </p:spPr>
      </p:sp>
      <p:sp>
        <p:nvSpPr>
          <p:cNvPr id="274" name="Shape 274"/>
          <p:cNvSpPr/>
          <p:nvPr/>
        </p:nvSpPr>
        <p:spPr>
          <a:xfrm>
            <a:off x="868680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275" name="Shape 275"/>
          <p:cNvSpPr/>
          <p:nvPr/>
        </p:nvSpPr>
        <p:spPr>
          <a:xfrm>
            <a:off x="1947672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276" name="Shape 276"/>
          <p:cNvSpPr/>
          <p:nvPr/>
        </p:nvSpPr>
        <p:spPr>
          <a:xfrm>
            <a:off x="3026664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277" name="Shape 277"/>
          <p:cNvSpPr/>
          <p:nvPr/>
        </p:nvSpPr>
        <p:spPr>
          <a:xfrm>
            <a:off x="4105656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278" name="Shape 278"/>
          <p:cNvSpPr/>
          <p:nvPr/>
        </p:nvSpPr>
        <p:spPr>
          <a:xfrm>
            <a:off x="5184648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279" name="Shape 279"/>
          <p:cNvSpPr/>
          <p:nvPr/>
        </p:nvSpPr>
        <p:spPr>
          <a:xfrm>
            <a:off x="6263640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280" name="Shape 280"/>
          <p:cNvSpPr/>
          <p:nvPr/>
        </p:nvSpPr>
        <p:spPr>
          <a:xfrm>
            <a:off x="7342632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281" name="Shape 281"/>
          <p:cNvSpPr/>
          <p:nvPr/>
        </p:nvSpPr>
        <p:spPr>
          <a:xfrm>
            <a:off x="8421624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282" name="Shape 282"/>
          <p:cNvSpPr/>
          <p:nvPr/>
        </p:nvSpPr>
        <p:spPr>
          <a:xfrm>
            <a:off x="9500616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283" name="Shape 283"/>
          <p:cNvSpPr/>
          <p:nvPr/>
        </p:nvSpPr>
        <p:spPr>
          <a:xfrm>
            <a:off x="10579608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284" name="Shape 284"/>
          <p:cNvSpPr/>
          <p:nvPr/>
        </p:nvSpPr>
        <p:spPr>
          <a:xfrm>
            <a:off x="11658600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285" name="Shape 285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CED9E8">
                <a:alpha val="100000"/>
              </a:srgbClr>
            </a:solidFill>
          </a:ln>
        </p:spPr>
      </p:sp>
      <p:sp>
        <p:nvSpPr>
          <p:cNvPr id="286" name="Text 286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6B7B91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6B7B91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theme05 · theme05_page076</a:t>
            </a:r>
          </a:p>
        </p:txBody>
      </p:sp>
      <p:sp>
        <p:nvSpPr>
          <p:cNvPr id="287" name="Text 287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色谱图表风</a:t>
            </a:r>
          </a:p>
        </p:txBody>
      </p:sp>
      <p:sp>
        <p:nvSpPr>
          <p:cNvPr id="288" name="Text 288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rPr>
              <a:t>REPO MAP</a:t>
            </a:r>
          </a:p>
        </p:txBody>
      </p:sp>
      <p:sp>
        <p:nvSpPr>
          <p:cNvPr id="289" name="Text 289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一个仓库，完整链路</a:t>
            </a:r>
          </a:p>
        </p:txBody>
      </p:sp>
      <p:sp>
        <p:nvSpPr>
          <p:cNvPr id="290" name="Text 290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Skill、MCP 与 Runtime 协同工作。</a:t>
            </a:r>
          </a:p>
        </p:txBody>
      </p:sp>
      <p:sp>
        <p:nvSpPr>
          <p:cNvPr id="291" name="Text 291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92" name="Shape 292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CED9E8">
                <a:alpha val="100000"/>
              </a:srgbClr>
            </a:solidFill>
          </a:ln>
        </p:spPr>
      </p:sp>
      <p:sp>
        <p:nvSpPr>
          <p:cNvPr id="293" name="Shape 293"/>
          <p:cNvSpPr/>
          <p:nvPr/>
        </p:nvSpPr>
        <p:spPr>
          <a:xfrm>
            <a:off x="777240" y="1719072"/>
            <a:ext cx="10652760" cy="841248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ED9E8">
                <a:alpha val="100000"/>
              </a:srgbClr>
            </a:solidFill>
          </a:ln>
        </p:spPr>
      </p:sp>
      <p:sp>
        <p:nvSpPr>
          <p:cNvPr id="294" name="Text 294"/>
          <p:cNvSpPr txBox="1"/>
          <p:nvPr/>
        </p:nvSpPr>
        <p:spPr>
          <a:xfrm>
            <a:off x="1051560" y="1984248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7A5CE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7A5CE0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95" name="Text 295"/>
          <p:cNvSpPr txBox="1"/>
          <p:nvPr/>
        </p:nvSpPr>
        <p:spPr>
          <a:xfrm>
            <a:off x="1691640" y="1920240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15263D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15263D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.agents/skills/dashi-ppt</a:t>
            </a:r>
          </a:p>
        </p:txBody>
      </p:sp>
      <p:sp>
        <p:nvSpPr>
          <p:cNvPr id="296" name="Text 296"/>
          <p:cNvSpPr txBox="1"/>
          <p:nvPr/>
        </p:nvSpPr>
        <p:spPr>
          <a:xfrm>
            <a:off x="6080760" y="1975104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按需加载的主题与制作规则</a:t>
            </a:r>
          </a:p>
        </p:txBody>
      </p:sp>
      <p:sp>
        <p:nvSpPr>
          <p:cNvPr id="297" name="Shape 297"/>
          <p:cNvSpPr/>
          <p:nvPr/>
        </p:nvSpPr>
        <p:spPr>
          <a:xfrm>
            <a:off x="777240" y="2889504"/>
            <a:ext cx="10652760" cy="841248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ED9E8">
                <a:alpha val="100000"/>
              </a:srgbClr>
            </a:solidFill>
          </a:ln>
        </p:spPr>
      </p:sp>
      <p:sp>
        <p:nvSpPr>
          <p:cNvPr id="298" name="Text 298"/>
          <p:cNvSpPr txBox="1"/>
          <p:nvPr/>
        </p:nvSpPr>
        <p:spPr>
          <a:xfrm>
            <a:off x="1051560" y="3154680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21B6A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21B6A8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99" name="Text 299"/>
          <p:cNvSpPr txBox="1"/>
          <p:nvPr/>
        </p:nvSpPr>
        <p:spPr>
          <a:xfrm>
            <a:off x="1691640" y="3090672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15263D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15263D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.agents/mcp_config.json</a:t>
            </a:r>
          </a:p>
        </p:txBody>
      </p:sp>
      <p:sp>
        <p:nvSpPr>
          <p:cNvPr id="300" name="Text 300"/>
          <p:cNvSpPr txBox="1"/>
          <p:nvPr/>
        </p:nvSpPr>
        <p:spPr>
          <a:xfrm>
            <a:off x="6080760" y="3145536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工作区级 MCP 注册文件</a:t>
            </a:r>
          </a:p>
        </p:txBody>
      </p:sp>
      <p:sp>
        <p:nvSpPr>
          <p:cNvPr id="301" name="Shape 301"/>
          <p:cNvSpPr/>
          <p:nvPr/>
        </p:nvSpPr>
        <p:spPr>
          <a:xfrm>
            <a:off x="777240" y="4059936"/>
            <a:ext cx="10652760" cy="841248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ED9E8">
                <a:alpha val="100000"/>
              </a:srgbClr>
            </a:solidFill>
          </a:ln>
        </p:spPr>
      </p:sp>
      <p:sp>
        <p:nvSpPr>
          <p:cNvPr id="302" name="Text 302"/>
          <p:cNvSpPr txBox="1"/>
          <p:nvPr/>
        </p:nvSpPr>
        <p:spPr>
          <a:xfrm>
            <a:off x="1051560" y="4325112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03" name="Text 303"/>
          <p:cNvSpPr txBox="1"/>
          <p:nvPr/>
        </p:nvSpPr>
        <p:spPr>
          <a:xfrm>
            <a:off x="1691640" y="4261104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15263D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15263D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mcp/server.mjs  +  skills/dashi-ppt</a:t>
            </a:r>
          </a:p>
        </p:txBody>
      </p:sp>
      <p:sp>
        <p:nvSpPr>
          <p:cNvPr id="304" name="Text 304"/>
          <p:cNvSpPr txBox="1"/>
          <p:nvPr/>
        </p:nvSpPr>
        <p:spPr>
          <a:xfrm>
            <a:off x="6080760" y="4315968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主题、版式与渲染运行时</a:t>
            </a:r>
          </a:p>
        </p:txBody>
      </p:sp>
      <p:sp>
        <p:nvSpPr>
          <p:cNvPr id="305" name="Text 305"/>
          <p:cNvSpPr txBox="1"/>
          <p:nvPr/>
        </p:nvSpPr>
        <p:spPr>
          <a:xfrm>
            <a:off x="731520" y="5669280"/>
            <a:ext cx="107899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rPr>
              <a:t>源文件和成品一起归档，方便交接。</a:t>
            </a:r>
          </a:p>
        </p:txBody>
      </p:sp>
      <p:sp>
        <p:nvSpPr>
          <p:cNvPr id="100007" name="Slide number 7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4F7FB">
          <a:alpha val="100000"/>
        </a:srgbClr>
      </a:solidFill>
      <a:effectLst/>
    </p:bgPr>
  </p:bg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306"/>
          <p:cNvSpPr/>
          <p:nvPr/>
        </p:nvSpPr>
        <p:spPr>
          <a:xfrm>
            <a:off x="658368" y="164592"/>
            <a:ext cx="1938528" cy="41148"/>
          </a:xfrm>
          <a:prstGeom prst="rect">
            <a:avLst/>
          </a:prstGeom>
          <a:solidFill>
            <a:srgbClr val="3A7DFF">
              <a:alpha val="100000"/>
            </a:srgbClr>
          </a:solidFill>
          <a:ln w="0">
            <a:noFill/>
          </a:ln>
        </p:spPr>
      </p:sp>
      <p:sp>
        <p:nvSpPr>
          <p:cNvPr id="307" name="Shape 307"/>
          <p:cNvSpPr/>
          <p:nvPr/>
        </p:nvSpPr>
        <p:spPr>
          <a:xfrm>
            <a:off x="2816352" y="164592"/>
            <a:ext cx="1938528" cy="41148"/>
          </a:xfrm>
          <a:prstGeom prst="rect">
            <a:avLst/>
          </a:prstGeom>
          <a:solidFill>
            <a:srgbClr val="21B6A8">
              <a:alpha val="100000"/>
            </a:srgbClr>
          </a:solidFill>
          <a:ln w="0">
            <a:noFill/>
          </a:ln>
        </p:spPr>
      </p:sp>
      <p:sp>
        <p:nvSpPr>
          <p:cNvPr id="308" name="Shape 308"/>
          <p:cNvSpPr/>
          <p:nvPr/>
        </p:nvSpPr>
        <p:spPr>
          <a:xfrm>
            <a:off x="4974336" y="164592"/>
            <a:ext cx="1938528" cy="41148"/>
          </a:xfrm>
          <a:prstGeom prst="rect">
            <a:avLst/>
          </a:prstGeom>
          <a:solidFill>
            <a:srgbClr val="7A5CE0">
              <a:alpha val="100000"/>
            </a:srgbClr>
          </a:solidFill>
          <a:ln w="0">
            <a:noFill/>
          </a:ln>
        </p:spPr>
      </p:sp>
      <p:sp>
        <p:nvSpPr>
          <p:cNvPr id="309" name="Shape 309"/>
          <p:cNvSpPr/>
          <p:nvPr/>
        </p:nvSpPr>
        <p:spPr>
          <a:xfrm>
            <a:off x="7132320" y="164592"/>
            <a:ext cx="1938528" cy="41148"/>
          </a:xfrm>
          <a:prstGeom prst="rect">
            <a:avLst/>
          </a:prstGeom>
          <a:solidFill>
            <a:srgbClr val="F39A3D">
              <a:alpha val="100000"/>
            </a:srgbClr>
          </a:solidFill>
          <a:ln w="0">
            <a:noFill/>
          </a:ln>
        </p:spPr>
      </p:sp>
      <p:sp>
        <p:nvSpPr>
          <p:cNvPr id="310" name="Shape 310"/>
          <p:cNvSpPr/>
          <p:nvPr/>
        </p:nvSpPr>
        <p:spPr>
          <a:xfrm>
            <a:off x="9290304" y="164592"/>
            <a:ext cx="1938528" cy="41148"/>
          </a:xfrm>
          <a:prstGeom prst="rect">
            <a:avLst/>
          </a:prstGeom>
          <a:solidFill>
            <a:srgbClr val="E95078">
              <a:alpha val="100000"/>
            </a:srgbClr>
          </a:solidFill>
          <a:ln w="0">
            <a:noFill/>
          </a:ln>
        </p:spPr>
      </p:sp>
      <p:sp>
        <p:nvSpPr>
          <p:cNvPr id="311" name="Shape 311"/>
          <p:cNvSpPr/>
          <p:nvPr/>
        </p:nvSpPr>
        <p:spPr>
          <a:xfrm>
            <a:off x="868680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312" name="Shape 312"/>
          <p:cNvSpPr/>
          <p:nvPr/>
        </p:nvSpPr>
        <p:spPr>
          <a:xfrm>
            <a:off x="1947672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313" name="Shape 313"/>
          <p:cNvSpPr/>
          <p:nvPr/>
        </p:nvSpPr>
        <p:spPr>
          <a:xfrm>
            <a:off x="3026664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314" name="Shape 314"/>
          <p:cNvSpPr/>
          <p:nvPr/>
        </p:nvSpPr>
        <p:spPr>
          <a:xfrm>
            <a:off x="4105656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315" name="Shape 315"/>
          <p:cNvSpPr/>
          <p:nvPr/>
        </p:nvSpPr>
        <p:spPr>
          <a:xfrm>
            <a:off x="5184648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316" name="Shape 316"/>
          <p:cNvSpPr/>
          <p:nvPr/>
        </p:nvSpPr>
        <p:spPr>
          <a:xfrm>
            <a:off x="6263640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317" name="Shape 317"/>
          <p:cNvSpPr/>
          <p:nvPr/>
        </p:nvSpPr>
        <p:spPr>
          <a:xfrm>
            <a:off x="7342632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318" name="Shape 318"/>
          <p:cNvSpPr/>
          <p:nvPr/>
        </p:nvSpPr>
        <p:spPr>
          <a:xfrm>
            <a:off x="8421624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319" name="Shape 319"/>
          <p:cNvSpPr/>
          <p:nvPr/>
        </p:nvSpPr>
        <p:spPr>
          <a:xfrm>
            <a:off x="9500616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320" name="Shape 320"/>
          <p:cNvSpPr/>
          <p:nvPr/>
        </p:nvSpPr>
        <p:spPr>
          <a:xfrm>
            <a:off x="10579608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321" name="Shape 321"/>
          <p:cNvSpPr/>
          <p:nvPr/>
        </p:nvSpPr>
        <p:spPr>
          <a:xfrm>
            <a:off x="11658600" y="6035040"/>
            <a:ext cx="1" cy="237744"/>
          </a:xfrm>
          <a:prstGeom prst="line">
            <a:avLst/>
          </a:prstGeom>
          <a:noFill/>
          <a:ln w="8255" cap="flat">
            <a:solidFill>
              <a:srgbClr val="CED9E8">
                <a:alpha val="100000"/>
              </a:srgbClr>
            </a:solidFill>
          </a:ln>
        </p:spPr>
      </p:sp>
      <p:sp>
        <p:nvSpPr>
          <p:cNvPr id="322" name="Shape 322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CED9E8">
                <a:alpha val="100000"/>
              </a:srgbClr>
            </a:solidFill>
          </a:ln>
        </p:spPr>
      </p:sp>
      <p:sp>
        <p:nvSpPr>
          <p:cNvPr id="323" name="Text 323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6B7B91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6B7B91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theme05 · theme05_page074</a:t>
            </a:r>
          </a:p>
        </p:txBody>
      </p:sp>
      <p:sp>
        <p:nvSpPr>
          <p:cNvPr id="324" name="Text 324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色谱图表风</a:t>
            </a:r>
          </a:p>
        </p:txBody>
      </p:sp>
      <p:sp>
        <p:nvSpPr>
          <p:cNvPr id="325" name="Text 325"/>
          <p:cNvSpPr txBox="1"/>
          <p:nvPr/>
        </p:nvSpPr>
        <p:spPr>
          <a:xfrm>
            <a:off x="685800" y="713232"/>
            <a:ext cx="384048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rPr>
              <a:t>Start Here</a:t>
            </a:r>
          </a:p>
        </p:txBody>
      </p:sp>
      <p:sp>
        <p:nvSpPr>
          <p:cNvPr id="326" name="Text 326"/>
          <p:cNvSpPr txBox="1"/>
          <p:nvPr/>
        </p:nvSpPr>
        <p:spPr>
          <a:xfrm>
            <a:off x="685800" y="1353312"/>
            <a:ext cx="8046720" cy="9601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30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3000" b="1">
                <a:solidFill>
                  <a:srgbClr val="1526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下一步</a:t>
            </a:r>
          </a:p>
        </p:txBody>
      </p:sp>
      <p:sp>
        <p:nvSpPr>
          <p:cNvPr id="327" name="Text 327"/>
          <p:cNvSpPr txBox="1"/>
          <p:nvPr/>
        </p:nvSpPr>
        <p:spPr>
          <a:xfrm>
            <a:off x="713232" y="2633472"/>
            <a:ext cx="585216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12 个主题 · 一套工作流</a:t>
            </a:r>
          </a:p>
        </p:txBody>
      </p:sp>
      <p:sp>
        <p:nvSpPr>
          <p:cNvPr id="328" name="Shape 328"/>
          <p:cNvSpPr/>
          <p:nvPr/>
        </p:nvSpPr>
        <p:spPr>
          <a:xfrm>
            <a:off x="713232" y="3886200"/>
            <a:ext cx="7726680" cy="9144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CED9E8">
                <a:alpha val="100000"/>
              </a:srgbClr>
            </a:solidFill>
          </a:ln>
        </p:spPr>
      </p:sp>
      <p:sp>
        <p:nvSpPr>
          <p:cNvPr id="329" name="Text 329"/>
          <p:cNvSpPr txBox="1"/>
          <p:nvPr/>
        </p:nvSpPr>
        <p:spPr>
          <a:xfrm>
            <a:off x="987552" y="4123944"/>
            <a:ext cx="708660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200">
                <a:solidFill>
                  <a:srgbClr val="21B6A8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200">
                <a:solidFill>
                  <a:srgbClr val="21B6A8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git clone -b arena/01a038e7-dashi-ppt-skill</a:t>
            </a:r>
          </a:p>
        </p:txBody>
      </p:sp>
      <p:sp>
        <p:nvSpPr>
          <p:cNvPr id="330" name="Text 330"/>
          <p:cNvSpPr txBox="1"/>
          <p:nvPr/>
        </p:nvSpPr>
        <p:spPr>
          <a:xfrm>
            <a:off x="987552" y="4443984"/>
            <a:ext cx="708660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6B7B91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000">
                <a:solidFill>
                  <a:srgbClr val="6B7B91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https://github.com/mqgg5630-cyber/dashi-ppt-skill.git</a:t>
            </a:r>
          </a:p>
        </p:txBody>
      </p:sp>
      <p:sp>
        <p:nvSpPr>
          <p:cNvPr id="331" name="Text 331"/>
          <p:cNvSpPr txBox="1"/>
          <p:nvPr/>
        </p:nvSpPr>
        <p:spPr>
          <a:xfrm>
            <a:off x="731520" y="5687568"/>
            <a:ext cx="768096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3A7DFF">
                    <a:alpha val="100000"/>
                  </a:srgbClr>
                </a:solidFill>
                <a:latin typeface="Aptos"/>
                <a:ea typeface="Aptos"/>
                <a:cs typeface="Aptos"/>
              </a:rPr>
              <a:t>选择主题，开始制作。</a:t>
            </a:r>
          </a:p>
        </p:txBody>
      </p:sp>
      <p:sp>
        <p:nvSpPr>
          <p:cNvPr id="332" name="Text 332"/>
          <p:cNvSpPr txBox="1"/>
          <p:nvPr/>
        </p:nvSpPr>
        <p:spPr>
          <a:xfrm>
            <a:off x="8503920" y="4709160"/>
            <a:ext cx="260604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200" b="1">
                <a:solidFill>
                  <a:srgbClr val="7A5CE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200" b="1">
                <a:solidFill>
                  <a:srgbClr val="7A5CE0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 /  SKILL  /  PPTX</a:t>
            </a:r>
          </a:p>
        </p:txBody>
      </p:sp>
      <p:sp>
        <p:nvSpPr>
          <p:cNvPr id="100008" name="Slide number 8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6B7B91">
                    <a:alpha val="100000"/>
                  </a:srgbClr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i PPT Native Theme">
  <a:themeElements>
    <a:clrScheme name="Dashi">
      <a:dk1>
        <a:sysClr val="windowText" lastClr="000000"/>
      </a:dk1>
      <a:lt1>
        <a:sysClr val="window" lastClr="FFFFFF"/>
      </a:lt1>
      <a:dk2>
        <a:srgbClr val="1F1F1F"/>
      </a:dk2>
      <a:lt2>
        <a:srgbClr val="F7F7F7"/>
      </a:lt2>
      <a:accent1>
        <a:srgbClr val="5B8DEF"/>
      </a:accent1>
      <a:accent2>
        <a:srgbClr val="46B083"/>
      </a:accent2>
      <a:accent3>
        <a:srgbClr val="7A5AE0"/>
      </a:accent3>
      <a:accent4>
        <a:srgbClr val="E0A23A"/>
      </a:accent4>
      <a:accent5>
        <a:srgbClr val="E95078"/>
      </a:accent5>
      <a:accent6>
        <a:srgbClr val="3BB6EC"/>
      </a:accent6>
      <a:hlink>
        <a:srgbClr val="0563C1"/>
      </a:hlink>
      <a:folHlink>
        <a:srgbClr val="954F72"/>
      </a:folHlink>
    </a:clrScheme>
    <a:fontScheme name="Dashi">
      <a:majorFont>
        <a:latin typeface="Aptos Display"/>
        <a:ea typeface="Aptos Display"/>
        <a:cs typeface="Aptos Display"/>
      </a:majorFont>
      <a:minorFont>
        <a:latin typeface="Aptos"/>
        <a:ea typeface="Aptos"/>
        <a:cs typeface="Aptos"/>
      </a:minorFont>
    </a:fontScheme>
    <a:fmtScheme name="Dashi">
      <a:fillStyleLst>
        <a:solidFill>
          <a:srgbClr val="FFFFFF"/>
        </a:solidFill>
      </a:fillStyleLst>
      <a:lnStyleLst>
        <a:ln w="9525">
          <a:solidFill>
            <a:srgbClr val="000000"/>
          </a:solidFill>
        </a:ln>
      </a:lnStyleLst>
      <a:effectStyleLst/>
      <a:bgFillStyleLst>
        <a:solidFill>
          <a:srgbClr val="FFFFFF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8</vt:i4>
      </vt:variant>
    </vt:vector>
  </HeadingPairs>
  <TitlesOfParts>
    <vt:vector size="8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Dashi PPT 主题示例｜theme05</dc:title>
  <dc:subject>展示 theme05 主题下的 Dashi PPT 内容组织、版式选择与可编辑交付</dc:subject>
  <dc:creator>Dashi PPT</dc:creator>
  <cp:lastModifiedBy>Dashi PPT</cp:lastModifiedBy>
  <dcterms:created xsi:type="dcterms:W3CDTF">2026-08-27T12:10:54.700Z</dcterms:created>
  <dcterms:modified xsi:type="dcterms:W3CDTF">2026-08-27T12:10:54.700Z</dcterms:modified>
</cp:coreProperties>
</file>