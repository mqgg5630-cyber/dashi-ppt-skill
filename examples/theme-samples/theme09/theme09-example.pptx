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 type="screen16x9"/>
  <p:notesSz cx="6858000" cy="9144000"/>
  <p:defaultTextStyle>
    <a:defPPr/>
    <a:lvl1pPr marL="0" algn="l"/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A193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id="1" r:id="rId1"/>
  </p:sldLayoutIdLst>
  <p:txStyles>
    <p:titleStyle/>
    <p:bodyStyle/>
    <p:otherStyle/>
  </p:txStyles>
  <p:clrMap bg1="lt1" tx1="dk1" bg2="lt2" tx2="dk2" accent1="accent1" accent2="accent2" accent3="accent3" accent4="accent4" accent5="accent5" accent6="accent6" hlink="hlink" folHlink="folHlink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3" name="Shape 3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4" name="Shape 4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theme09_page005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658368" y="566928"/>
            <a:ext cx="740664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THEME09  /  深蓝杂志风  /  ANTIGRAVITY EDITION</a:t>
            </a:r>
          </a:p>
        </p:txBody>
      </p:sp>
      <p:sp>
        <p:nvSpPr>
          <p:cNvPr id="8" name="Text 8"/>
          <p:cNvSpPr txBox="1"/>
          <p:nvPr/>
        </p:nvSpPr>
        <p:spPr>
          <a:xfrm>
            <a:off x="658368" y="1115568"/>
            <a:ext cx="6446520" cy="12344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主题预览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694944" y="2633472"/>
            <a:ext cx="521208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套视觉语言</a:t>
            </a:r>
          </a:p>
        </p:txBody>
      </p:sp>
      <p:sp>
        <p:nvSpPr>
          <p:cNvPr id="10" name="Text 10"/>
          <p:cNvSpPr txBox="1"/>
          <p:nvPr/>
        </p:nvSpPr>
        <p:spPr>
          <a:xfrm>
            <a:off x="694944" y="3675888"/>
            <a:ext cx="5120640" cy="6583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8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8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11" name="Text 11"/>
          <p:cNvSpPr txBox="1"/>
          <p:nvPr/>
        </p:nvSpPr>
        <p:spPr>
          <a:xfrm>
            <a:off x="7498080" y="841248"/>
            <a:ext cx="356616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 STACK</a:t>
            </a:r>
          </a:p>
        </p:txBody>
      </p:sp>
      <p:sp>
        <p:nvSpPr>
          <p:cNvPr id="12" name="Shape 12"/>
          <p:cNvSpPr/>
          <p:nvPr/>
        </p:nvSpPr>
        <p:spPr>
          <a:xfrm>
            <a:off x="7479792" y="1325880"/>
            <a:ext cx="3886200" cy="786384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3" name="Text 13"/>
          <p:cNvSpPr txBox="1"/>
          <p:nvPr/>
        </p:nvSpPr>
        <p:spPr>
          <a:xfrm>
            <a:off x="7699248" y="1499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4" name="Text 14"/>
          <p:cNvSpPr txBox="1"/>
          <p:nvPr/>
        </p:nvSpPr>
        <p:spPr>
          <a:xfrm>
            <a:off x="8174736" y="1472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Agent Skill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8174736" y="1783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方法与质量边界</a:t>
            </a:r>
          </a:p>
        </p:txBody>
      </p:sp>
      <p:sp>
        <p:nvSpPr>
          <p:cNvPr id="16" name="Shape 16"/>
          <p:cNvSpPr/>
          <p:nvPr/>
        </p:nvSpPr>
        <p:spPr>
          <a:xfrm>
            <a:off x="9418320" y="2130552"/>
            <a:ext cx="1" cy="292608"/>
          </a:xfrm>
          <a:prstGeom prst="line">
            <a:avLst/>
          </a:prstGeom>
          <a:noFill/>
          <a:ln w="17780" cap="flat">
            <a:solidFill>
              <a:srgbClr val="C7B1FF">
                <a:alpha val="100000"/>
              </a:srgbClr>
            </a:solidFill>
            <a:tailEnd type="triangle" w="sm" len="sm"/>
          </a:ln>
        </p:spPr>
      </p:sp>
      <p:sp>
        <p:nvSpPr>
          <p:cNvPr id="17" name="Shape 17"/>
          <p:cNvSpPr/>
          <p:nvPr/>
        </p:nvSpPr>
        <p:spPr>
          <a:xfrm>
            <a:off x="7479792" y="2468880"/>
            <a:ext cx="3886200" cy="786384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8" name="Text 18"/>
          <p:cNvSpPr txBox="1"/>
          <p:nvPr/>
        </p:nvSpPr>
        <p:spPr>
          <a:xfrm>
            <a:off x="7699248" y="2642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174736" y="2615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Server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8174736" y="2926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工具连接与执行</a:t>
            </a:r>
          </a:p>
        </p:txBody>
      </p:sp>
      <p:sp>
        <p:nvSpPr>
          <p:cNvPr id="21" name="Shape 21"/>
          <p:cNvSpPr/>
          <p:nvPr/>
        </p:nvSpPr>
        <p:spPr>
          <a:xfrm>
            <a:off x="9418320" y="3273552"/>
            <a:ext cx="1" cy="292608"/>
          </a:xfrm>
          <a:prstGeom prst="line">
            <a:avLst/>
          </a:prstGeom>
          <a:noFill/>
          <a:ln w="17780" cap="flat">
            <a:solidFill>
              <a:srgbClr val="7ED7E7">
                <a:alpha val="100000"/>
              </a:srgbClr>
            </a:solidFill>
            <a:tailEnd type="triangle" w="sm" len="sm"/>
          </a:ln>
        </p:spPr>
      </p:sp>
      <p:sp>
        <p:nvSpPr>
          <p:cNvPr id="22" name="Shape 22"/>
          <p:cNvSpPr/>
          <p:nvPr/>
        </p:nvSpPr>
        <p:spPr>
          <a:xfrm>
            <a:off x="7479792" y="3611880"/>
            <a:ext cx="3886200" cy="786384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23" name="Text 23"/>
          <p:cNvSpPr txBox="1"/>
          <p:nvPr/>
        </p:nvSpPr>
        <p:spPr>
          <a:xfrm>
            <a:off x="7699248" y="3785616"/>
            <a:ext cx="36576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4" name="Text 24"/>
          <p:cNvSpPr txBox="1"/>
          <p:nvPr/>
        </p:nvSpPr>
        <p:spPr>
          <a:xfrm>
            <a:off x="8174736" y="3758184"/>
            <a:ext cx="22402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Runtime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174736" y="4069080"/>
            <a:ext cx="265176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HTML / PPTX 产物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6949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6949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视觉主题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25237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25237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版式页面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352544" y="5833872"/>
            <a:ext cx="1143000" cy="31089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4352544" y="6199632"/>
            <a:ext cx="128016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可调控件</a:t>
            </a:r>
          </a:p>
        </p:txBody>
      </p:sp>
      <p:sp>
        <p:nvSpPr>
          <p:cNvPr id="32" name="Text 32"/>
          <p:cNvSpPr txBox="1"/>
          <p:nvPr/>
        </p:nvSpPr>
        <p:spPr>
          <a:xfrm>
            <a:off x="10698480" y="6199632"/>
            <a:ext cx="731520" cy="16459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2026</a:t>
            </a:r>
          </a:p>
        </p:txBody>
      </p:sp>
      <p:sp>
        <p:nvSpPr>
          <p:cNvPr id="100001" name="Slide number 1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34" name="Shape 34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35" name="Shape 35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36" name="Text 3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theme09_page101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DESIGN LANGUAGE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主题决定第一印象，也决定信息节奏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同一份内容可以用不同视觉语言表达，重点、密度和情绪随主题变化。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2" name="Shape 4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43" name="Shape 43"/>
          <p:cNvSpPr/>
          <p:nvPr/>
        </p:nvSpPr>
        <p:spPr>
          <a:xfrm>
            <a:off x="685800" y="1874520"/>
            <a:ext cx="3401568" cy="283464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44" name="Text 44"/>
          <p:cNvSpPr txBox="1"/>
          <p:nvPr/>
        </p:nvSpPr>
        <p:spPr>
          <a:xfrm>
            <a:off x="941832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2862072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41832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语气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941832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从克制研究到高能增长，先确定表达气质</a:t>
            </a:r>
          </a:p>
        </p:txBody>
      </p:sp>
      <p:sp>
        <p:nvSpPr>
          <p:cNvPr id="48" name="Shape 48"/>
          <p:cNvSpPr/>
          <p:nvPr/>
        </p:nvSpPr>
        <p:spPr>
          <a:xfrm>
            <a:off x="941832" y="4315968"/>
            <a:ext cx="2743200" cy="1"/>
          </a:xfrm>
          <a:prstGeom prst="line">
            <a:avLst/>
          </a:prstGeom>
          <a:noFill/>
          <a:ln w="25400" cap="flat">
            <a:solidFill>
              <a:srgbClr val="C7B1FF">
                <a:alpha val="100000"/>
              </a:srgbClr>
            </a:solidFill>
          </a:ln>
        </p:spPr>
      </p:sp>
      <p:sp>
        <p:nvSpPr>
          <p:cNvPr id="49" name="Shape 49"/>
          <p:cNvSpPr/>
          <p:nvPr/>
        </p:nvSpPr>
        <p:spPr>
          <a:xfrm>
            <a:off x="4507992" y="1874520"/>
            <a:ext cx="3401568" cy="283464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50" name="Text 50"/>
          <p:cNvSpPr txBox="1"/>
          <p:nvPr/>
        </p:nvSpPr>
        <p:spPr>
          <a:xfrm>
            <a:off x="4764024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6684264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4764024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层级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4764024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主题内置标题、指标、图表与留白规则</a:t>
            </a:r>
          </a:p>
        </p:txBody>
      </p:sp>
      <p:sp>
        <p:nvSpPr>
          <p:cNvPr id="54" name="Shape 54"/>
          <p:cNvSpPr/>
          <p:nvPr/>
        </p:nvSpPr>
        <p:spPr>
          <a:xfrm>
            <a:off x="4764024" y="4315968"/>
            <a:ext cx="2743200" cy="1"/>
          </a:xfrm>
          <a:prstGeom prst="line">
            <a:avLst/>
          </a:prstGeom>
          <a:noFill/>
          <a:ln w="25400" cap="flat">
            <a:solidFill>
              <a:srgbClr val="7ED7E7">
                <a:alpha val="100000"/>
              </a:srgbClr>
            </a:solidFill>
          </a:ln>
        </p:spPr>
      </p:sp>
      <p:sp>
        <p:nvSpPr>
          <p:cNvPr id="55" name="Shape 55"/>
          <p:cNvSpPr/>
          <p:nvPr/>
        </p:nvSpPr>
        <p:spPr>
          <a:xfrm>
            <a:off x="8330184" y="1874520"/>
            <a:ext cx="3401568" cy="283464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56" name="Text 56"/>
          <p:cNvSpPr txBox="1"/>
          <p:nvPr/>
        </p:nvSpPr>
        <p:spPr>
          <a:xfrm>
            <a:off x="8586216" y="2121408"/>
            <a:ext cx="4114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7" name="Text 57"/>
          <p:cNvSpPr txBox="1"/>
          <p:nvPr/>
        </p:nvSpPr>
        <p:spPr>
          <a:xfrm>
            <a:off x="10506456" y="2139696"/>
            <a:ext cx="96012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58" name="Text 58"/>
          <p:cNvSpPr txBox="1"/>
          <p:nvPr/>
        </p:nvSpPr>
        <p:spPr>
          <a:xfrm>
            <a:off x="8586216" y="2651760"/>
            <a:ext cx="27889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一致性</a:t>
            </a:r>
          </a:p>
        </p:txBody>
      </p:sp>
      <p:sp>
        <p:nvSpPr>
          <p:cNvPr id="59" name="Text 59"/>
          <p:cNvSpPr txBox="1"/>
          <p:nvPr/>
        </p:nvSpPr>
        <p:spPr>
          <a:xfrm>
            <a:off x="8586216" y="3429000"/>
            <a:ext cx="2788920" cy="6400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整份 deck 使用同一套视觉系统，减少手工调整</a:t>
            </a:r>
          </a:p>
        </p:txBody>
      </p:sp>
      <p:sp>
        <p:nvSpPr>
          <p:cNvPr id="60" name="Shape 60"/>
          <p:cNvSpPr/>
          <p:nvPr/>
        </p:nvSpPr>
        <p:spPr>
          <a:xfrm>
            <a:off x="8586216" y="4315968"/>
            <a:ext cx="2743200" cy="1"/>
          </a:xfrm>
          <a:prstGeom prst="line">
            <a:avLst/>
          </a:prstGeom>
          <a:noFill/>
          <a:ln w="25400" cap="flat">
            <a:solidFill>
              <a:srgbClr val="FFB14E">
                <a:alpha val="100000"/>
              </a:srgbClr>
            </a:solidFill>
          </a:ln>
        </p:spPr>
      </p:sp>
      <p:sp>
        <p:nvSpPr>
          <p:cNvPr id="61" name="Text 61"/>
          <p:cNvSpPr txBox="1"/>
          <p:nvPr/>
        </p:nvSpPr>
        <p:spPr>
          <a:xfrm>
            <a:off x="731520" y="5230368"/>
            <a:ext cx="10789920" cy="47548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6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先选对主题，再让版式服务于内容。</a:t>
            </a:r>
          </a:p>
        </p:txBody>
      </p:sp>
      <p:sp>
        <p:nvSpPr>
          <p:cNvPr id="100002" name="Slide number 2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63" name="Shape 63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64" name="Shape 64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65" name="Text 65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theme09_page075</a:t>
            </a:r>
          </a:p>
        </p:txBody>
      </p:sp>
      <p:sp>
        <p:nvSpPr>
          <p:cNvPr id="66" name="Text 66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67" name="Text 67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SYSTEM AT A GLANCE</a:t>
            </a:r>
          </a:p>
        </p:txBody>
      </p:sp>
      <p:sp>
        <p:nvSpPr>
          <p:cNvPr id="68" name="Text 68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内置资源让每一页都有可选方案</a:t>
            </a:r>
          </a:p>
        </p:txBody>
      </p:sp>
      <p:sp>
        <p:nvSpPr>
          <p:cNvPr id="69" name="Text 69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Dashi PPT 将主题、版式和可调控件组合成可复用的页面系统。</a:t>
            </a:r>
          </a:p>
        </p:txBody>
      </p:sp>
      <p:sp>
        <p:nvSpPr>
          <p:cNvPr id="70" name="Text 70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1" name="Shape 71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72" name="Shape 72"/>
          <p:cNvSpPr/>
          <p:nvPr/>
        </p:nvSpPr>
        <p:spPr>
          <a:xfrm>
            <a:off x="685800" y="1783080"/>
            <a:ext cx="4892040" cy="1325880"/>
          </a:xfrm>
          <a:prstGeom prst="roundRect">
            <a:avLst/>
          </a:prstGeom>
          <a:solidFill>
            <a:srgbClr val="173560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73" name="Text 73"/>
          <p:cNvSpPr txBox="1"/>
          <p:nvPr/>
        </p:nvSpPr>
        <p:spPr>
          <a:xfrm>
            <a:off x="9601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FB14E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FB14E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74" name="Text 74"/>
          <p:cNvSpPr txBox="1"/>
          <p:nvPr/>
        </p:nvSpPr>
        <p:spPr>
          <a:xfrm>
            <a:off x="24414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套</a:t>
            </a:r>
          </a:p>
        </p:txBody>
      </p:sp>
      <p:sp>
        <p:nvSpPr>
          <p:cNvPr id="75" name="Text 75"/>
          <p:cNvSpPr txBox="1"/>
          <p:nvPr/>
        </p:nvSpPr>
        <p:spPr>
          <a:xfrm>
            <a:off x="32004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</a:t>
            </a:r>
          </a:p>
        </p:txBody>
      </p:sp>
      <p:sp>
        <p:nvSpPr>
          <p:cNvPr id="76" name="Text 76"/>
          <p:cNvSpPr txBox="1"/>
          <p:nvPr/>
        </p:nvSpPr>
        <p:spPr>
          <a:xfrm>
            <a:off x="25146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覆盖多种业务叙事场景</a:t>
            </a:r>
          </a:p>
        </p:txBody>
      </p:sp>
      <p:sp>
        <p:nvSpPr>
          <p:cNvPr id="77" name="Shape 77"/>
          <p:cNvSpPr/>
          <p:nvPr/>
        </p:nvSpPr>
        <p:spPr>
          <a:xfrm>
            <a:off x="6172200" y="1783080"/>
            <a:ext cx="4892040" cy="132588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78" name="Text 78"/>
          <p:cNvSpPr txBox="1"/>
          <p:nvPr/>
        </p:nvSpPr>
        <p:spPr>
          <a:xfrm>
            <a:off x="6446520" y="201168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1,020</a:t>
            </a:r>
          </a:p>
        </p:txBody>
      </p:sp>
      <p:sp>
        <p:nvSpPr>
          <p:cNvPr id="79" name="Text 79"/>
          <p:cNvSpPr txBox="1"/>
          <p:nvPr/>
        </p:nvSpPr>
        <p:spPr>
          <a:xfrm>
            <a:off x="7927848" y="222199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页</a:t>
            </a:r>
          </a:p>
        </p:txBody>
      </p:sp>
      <p:sp>
        <p:nvSpPr>
          <p:cNvPr id="80" name="Text 80"/>
          <p:cNvSpPr txBox="1"/>
          <p:nvPr/>
        </p:nvSpPr>
        <p:spPr>
          <a:xfrm>
            <a:off x="8686800" y="201168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版式</a:t>
            </a:r>
          </a:p>
        </p:txBody>
      </p:sp>
      <p:sp>
        <p:nvSpPr>
          <p:cNvPr id="81" name="Text 81"/>
          <p:cNvSpPr txBox="1"/>
          <p:nvPr/>
        </p:nvSpPr>
        <p:spPr>
          <a:xfrm>
            <a:off x="8001000" y="253288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20 类页面角色</a:t>
            </a:r>
          </a:p>
        </p:txBody>
      </p:sp>
      <p:sp>
        <p:nvSpPr>
          <p:cNvPr id="82" name="Shape 82"/>
          <p:cNvSpPr/>
          <p:nvPr/>
        </p:nvSpPr>
        <p:spPr>
          <a:xfrm>
            <a:off x="685800" y="3566160"/>
            <a:ext cx="4892040" cy="132588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83" name="Text 83"/>
          <p:cNvSpPr txBox="1"/>
          <p:nvPr/>
        </p:nvSpPr>
        <p:spPr>
          <a:xfrm>
            <a:off x="9601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8,576</a:t>
            </a:r>
          </a:p>
        </p:txBody>
      </p:sp>
      <p:sp>
        <p:nvSpPr>
          <p:cNvPr id="84" name="Text 84"/>
          <p:cNvSpPr txBox="1"/>
          <p:nvPr/>
        </p:nvSpPr>
        <p:spPr>
          <a:xfrm>
            <a:off x="24414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个</a:t>
            </a:r>
          </a:p>
        </p:txBody>
      </p:sp>
      <p:sp>
        <p:nvSpPr>
          <p:cNvPr id="85" name="Text 85"/>
          <p:cNvSpPr txBox="1"/>
          <p:nvPr/>
        </p:nvSpPr>
        <p:spPr>
          <a:xfrm>
            <a:off x="32004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控件</a:t>
            </a:r>
          </a:p>
        </p:txBody>
      </p:sp>
      <p:sp>
        <p:nvSpPr>
          <p:cNvPr id="86" name="Text 86"/>
          <p:cNvSpPr txBox="1"/>
          <p:nvPr/>
        </p:nvSpPr>
        <p:spPr>
          <a:xfrm>
            <a:off x="25146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支持布局、数量与配色调整</a:t>
            </a:r>
          </a:p>
        </p:txBody>
      </p:sp>
      <p:sp>
        <p:nvSpPr>
          <p:cNvPr id="87" name="Shape 87"/>
          <p:cNvSpPr/>
          <p:nvPr/>
        </p:nvSpPr>
        <p:spPr>
          <a:xfrm>
            <a:off x="6172200" y="3566160"/>
            <a:ext cx="4892040" cy="132588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88" name="Text 88"/>
          <p:cNvSpPr txBox="1"/>
          <p:nvPr/>
        </p:nvSpPr>
        <p:spPr>
          <a:xfrm>
            <a:off x="6446520" y="3794760"/>
            <a:ext cx="1417320" cy="4572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7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3 + 1</a:t>
            </a:r>
          </a:p>
        </p:txBody>
      </p:sp>
      <p:sp>
        <p:nvSpPr>
          <p:cNvPr id="89" name="Text 89"/>
          <p:cNvSpPr txBox="1"/>
          <p:nvPr/>
        </p:nvSpPr>
        <p:spPr>
          <a:xfrm>
            <a:off x="7927848" y="4005072"/>
            <a:ext cx="640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种</a:t>
            </a:r>
          </a:p>
        </p:txBody>
      </p:sp>
      <p:sp>
        <p:nvSpPr>
          <p:cNvPr id="90" name="Text 90"/>
          <p:cNvSpPr txBox="1"/>
          <p:nvPr/>
        </p:nvSpPr>
        <p:spPr>
          <a:xfrm>
            <a:off x="8686800" y="3794760"/>
            <a:ext cx="201168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候选</a:t>
            </a:r>
          </a:p>
        </p:txBody>
      </p:sp>
      <p:sp>
        <p:nvSpPr>
          <p:cNvPr id="91" name="Text 91"/>
          <p:cNvSpPr txBox="1"/>
          <p:nvPr/>
        </p:nvSpPr>
        <p:spPr>
          <a:xfrm>
            <a:off x="8001000" y="4315968"/>
            <a:ext cx="27432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三套模板加一套 Agent 定制方案</a:t>
            </a:r>
          </a:p>
        </p:txBody>
      </p:sp>
      <p:sp>
        <p:nvSpPr>
          <p:cNvPr id="92" name="Text 92"/>
          <p:cNvSpPr txBox="1"/>
          <p:nvPr/>
        </p:nvSpPr>
        <p:spPr>
          <a:xfrm>
            <a:off x="731520" y="5532120"/>
            <a:ext cx="10789920" cy="38404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规模化制作的关键，是让选择和调整都可复用。</a:t>
            </a:r>
          </a:p>
        </p:txBody>
      </p:sp>
      <p:sp>
        <p:nvSpPr>
          <p:cNvPr id="100003" name="Slide number 3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94" name="Shape 94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95" name="Shape 95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96" name="Text 96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theme09_page110</a:t>
            </a:r>
          </a:p>
        </p:txBody>
      </p:sp>
      <p:sp>
        <p:nvSpPr>
          <p:cNvPr id="97" name="Text 97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98" name="Text 98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99" name="Text 99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从需求到交付，工作流只有五步</a:t>
            </a:r>
          </a:p>
        </p:txBody>
      </p:sp>
      <p:sp>
        <p:nvSpPr>
          <p:cNvPr id="100" name="Text 100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明确需求、组织内容、选择结构、渲染预览、导出交付。</a:t>
            </a:r>
          </a:p>
        </p:txBody>
      </p:sp>
      <p:sp>
        <p:nvSpPr>
          <p:cNvPr id="101" name="Text 101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2" name="Shape 102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03" name="Shape 103"/>
          <p:cNvSpPr/>
          <p:nvPr/>
        </p:nvSpPr>
        <p:spPr>
          <a:xfrm>
            <a:off x="960120" y="3017520"/>
            <a:ext cx="10149840" cy="1"/>
          </a:xfrm>
          <a:prstGeom prst="line">
            <a:avLst/>
          </a:prstGeom>
          <a:noFill/>
          <a:ln w="2540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04" name="Shape 104"/>
          <p:cNvSpPr/>
          <p:nvPr/>
        </p:nvSpPr>
        <p:spPr>
          <a:xfrm>
            <a:off x="941832" y="2788920"/>
            <a:ext cx="457200" cy="457200"/>
          </a:xfrm>
          <a:prstGeom prst="roundRect">
            <a:avLst/>
          </a:prstGeom>
          <a:solidFill>
            <a:srgbClr val="0A1936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05" name="Text 105"/>
          <p:cNvSpPr txBox="1"/>
          <p:nvPr/>
        </p:nvSpPr>
        <p:spPr>
          <a:xfrm>
            <a:off x="94183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6" name="Text 106"/>
          <p:cNvSpPr txBox="1"/>
          <p:nvPr/>
        </p:nvSpPr>
        <p:spPr>
          <a:xfrm>
            <a:off x="71323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01 需求</a:t>
            </a:r>
          </a:p>
        </p:txBody>
      </p:sp>
      <p:sp>
        <p:nvSpPr>
          <p:cNvPr id="107" name="Text 107"/>
          <p:cNvSpPr txBox="1"/>
          <p:nvPr/>
        </p:nvSpPr>
        <p:spPr>
          <a:xfrm>
            <a:off x="57607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主题、受众、页数、风格与格式</a:t>
            </a:r>
          </a:p>
        </p:txBody>
      </p:sp>
      <p:sp>
        <p:nvSpPr>
          <p:cNvPr id="108" name="Shape 108"/>
          <p:cNvSpPr/>
          <p:nvPr/>
        </p:nvSpPr>
        <p:spPr>
          <a:xfrm>
            <a:off x="3182112" y="2788920"/>
            <a:ext cx="457200" cy="457200"/>
          </a:xfrm>
          <a:prstGeom prst="roundRect">
            <a:avLst/>
          </a:prstGeom>
          <a:solidFill>
            <a:srgbClr val="0A1936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09" name="Text 109"/>
          <p:cNvSpPr txBox="1"/>
          <p:nvPr/>
        </p:nvSpPr>
        <p:spPr>
          <a:xfrm>
            <a:off x="318211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0" name="Text 110"/>
          <p:cNvSpPr txBox="1"/>
          <p:nvPr/>
        </p:nvSpPr>
        <p:spPr>
          <a:xfrm>
            <a:off x="295351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02 内容</a:t>
            </a:r>
          </a:p>
        </p:txBody>
      </p:sp>
      <p:sp>
        <p:nvSpPr>
          <p:cNvPr id="111" name="Text 111"/>
          <p:cNvSpPr txBox="1"/>
          <p:nvPr/>
        </p:nvSpPr>
        <p:spPr>
          <a:xfrm>
            <a:off x="281635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每页标题、结论、数字与事实源</a:t>
            </a:r>
          </a:p>
        </p:txBody>
      </p:sp>
      <p:sp>
        <p:nvSpPr>
          <p:cNvPr id="112" name="Shape 112"/>
          <p:cNvSpPr/>
          <p:nvPr/>
        </p:nvSpPr>
        <p:spPr>
          <a:xfrm>
            <a:off x="5422392" y="2788920"/>
            <a:ext cx="457200" cy="457200"/>
          </a:xfrm>
          <a:prstGeom prst="roundRect">
            <a:avLst/>
          </a:prstGeom>
          <a:solidFill>
            <a:srgbClr val="0A1936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13" name="Text 113"/>
          <p:cNvSpPr txBox="1"/>
          <p:nvPr/>
        </p:nvSpPr>
        <p:spPr>
          <a:xfrm>
            <a:off x="5422392" y="2926080"/>
            <a:ext cx="4572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4" name="Text 114"/>
          <p:cNvSpPr txBox="1"/>
          <p:nvPr/>
        </p:nvSpPr>
        <p:spPr>
          <a:xfrm>
            <a:off x="5193792" y="3675888"/>
            <a:ext cx="178308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03–05 交付</a:t>
            </a:r>
          </a:p>
        </p:txBody>
      </p:sp>
      <p:sp>
        <p:nvSpPr>
          <p:cNvPr id="115" name="Text 115"/>
          <p:cNvSpPr txBox="1"/>
          <p:nvPr/>
        </p:nvSpPr>
        <p:spPr>
          <a:xfrm>
            <a:off x="5056632" y="4133088"/>
            <a:ext cx="2057400" cy="56692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结构选择、渲染校验与文件导出</a:t>
            </a:r>
          </a:p>
        </p:txBody>
      </p:sp>
      <p:sp>
        <p:nvSpPr>
          <p:cNvPr id="116" name="Text 116"/>
          <p:cNvSpPr txBox="1"/>
          <p:nvPr/>
        </p:nvSpPr>
        <p:spPr>
          <a:xfrm>
            <a:off x="731520" y="5577840"/>
            <a:ext cx="10789920" cy="36576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把复杂制作拆成清晰步骤，团队更容易复用。</a:t>
            </a:r>
          </a:p>
        </p:txBody>
      </p:sp>
      <p:sp>
        <p:nvSpPr>
          <p:cNvPr id="100004" name="Slide number 4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118" name="Shape 118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119" name="Shape 119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20" name="Text 120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theme09_page070</a:t>
            </a:r>
          </a:p>
        </p:txBody>
      </p:sp>
      <p:sp>
        <p:nvSpPr>
          <p:cNvPr id="121" name="Text 121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122" name="Text 122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TEMPLATE PHILOSOPHY</a:t>
            </a:r>
          </a:p>
        </p:txBody>
      </p:sp>
      <p:sp>
        <p:nvSpPr>
          <p:cNvPr id="123" name="Text 123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模板是稳定的起点</a:t>
            </a:r>
          </a:p>
        </p:txBody>
      </p:sp>
      <p:sp>
        <p:nvSpPr>
          <p:cNvPr id="124" name="Text 124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保留系统，释放内容。</a:t>
            </a:r>
          </a:p>
        </p:txBody>
      </p:sp>
      <p:sp>
        <p:nvSpPr>
          <p:cNvPr id="125" name="Text 125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6" name="Shape 126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27" name="Shape 127"/>
          <p:cNvSpPr/>
          <p:nvPr/>
        </p:nvSpPr>
        <p:spPr>
          <a:xfrm>
            <a:off x="685800" y="1783080"/>
            <a:ext cx="5212080" cy="361188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28" name="Shape 128"/>
          <p:cNvSpPr/>
          <p:nvPr/>
        </p:nvSpPr>
        <p:spPr>
          <a:xfrm>
            <a:off x="6309360" y="1783080"/>
            <a:ext cx="5212080" cy="3611880"/>
          </a:xfrm>
          <a:prstGeom prst="roundRect">
            <a:avLst/>
          </a:prstGeom>
          <a:solidFill>
            <a:srgbClr val="173560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29" name="Text 129"/>
          <p:cNvSpPr txBox="1"/>
          <p:nvPr/>
        </p:nvSpPr>
        <p:spPr>
          <a:xfrm>
            <a:off x="1005840" y="2084832"/>
            <a:ext cx="201168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手工制作</a:t>
            </a:r>
          </a:p>
        </p:txBody>
      </p:sp>
      <p:sp>
        <p:nvSpPr>
          <p:cNvPr id="130" name="Text 130"/>
          <p:cNvSpPr txBox="1"/>
          <p:nvPr/>
        </p:nvSpPr>
        <p:spPr>
          <a:xfrm>
            <a:off x="6629400" y="2084832"/>
            <a:ext cx="25603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200" b="1">
                <a:solidFill>
                  <a:srgbClr val="FFB14E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200" b="1">
                <a:solidFill>
                  <a:srgbClr val="FFB14E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AGENT + MCP</a:t>
            </a:r>
          </a:p>
        </p:txBody>
      </p:sp>
      <p:sp>
        <p:nvSpPr>
          <p:cNvPr id="131" name="Shape 131"/>
          <p:cNvSpPr/>
          <p:nvPr/>
        </p:nvSpPr>
        <p:spPr>
          <a:xfrm>
            <a:off x="1005840" y="2761488"/>
            <a:ext cx="109728" cy="109728"/>
          </a:xfrm>
          <a:prstGeom prst="roundRect">
            <a:avLst/>
          </a:prstGeom>
          <a:solidFill>
            <a:srgbClr val="A3B3CE">
              <a:alpha val="100000"/>
            </a:srgbClr>
          </a:solidFill>
          <a:ln w="10160" cap="flat">
            <a:solidFill>
              <a:srgbClr val="A3B3CE">
                <a:alpha val="100000"/>
              </a:srgbClr>
            </a:solidFill>
          </a:ln>
        </p:spPr>
      </p:sp>
      <p:sp>
        <p:nvSpPr>
          <p:cNvPr id="132" name="Text 132"/>
          <p:cNvSpPr txBox="1"/>
          <p:nvPr/>
        </p:nvSpPr>
        <p:spPr>
          <a:xfrm>
            <a:off x="126187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保留系统</a:t>
            </a:r>
          </a:p>
        </p:txBody>
      </p:sp>
      <p:sp>
        <p:nvSpPr>
          <p:cNvPr id="133" name="Text 133"/>
          <p:cNvSpPr txBox="1"/>
          <p:nvPr/>
        </p:nvSpPr>
        <p:spPr>
          <a:xfrm>
            <a:off x="126187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字体、色彩、间距和组件保持统一</a:t>
            </a:r>
          </a:p>
        </p:txBody>
      </p:sp>
      <p:sp>
        <p:nvSpPr>
          <p:cNvPr id="134" name="Shape 134"/>
          <p:cNvSpPr/>
          <p:nvPr/>
        </p:nvSpPr>
        <p:spPr>
          <a:xfrm>
            <a:off x="1005840" y="3785616"/>
            <a:ext cx="109728" cy="109728"/>
          </a:xfrm>
          <a:prstGeom prst="roundRect">
            <a:avLst/>
          </a:prstGeom>
          <a:solidFill>
            <a:srgbClr val="A3B3CE">
              <a:alpha val="100000"/>
            </a:srgbClr>
          </a:solidFill>
          <a:ln w="10160" cap="flat">
            <a:solidFill>
              <a:srgbClr val="A3B3CE">
                <a:alpha val="100000"/>
              </a:srgbClr>
            </a:solidFill>
          </a:ln>
        </p:spPr>
      </p:sp>
      <p:sp>
        <p:nvSpPr>
          <p:cNvPr id="135" name="Text 135"/>
          <p:cNvSpPr txBox="1"/>
          <p:nvPr/>
        </p:nvSpPr>
        <p:spPr>
          <a:xfrm>
            <a:off x="126187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快速迭代</a:t>
            </a:r>
          </a:p>
        </p:txBody>
      </p:sp>
      <p:sp>
        <p:nvSpPr>
          <p:cNvPr id="136" name="Text 136"/>
          <p:cNvSpPr txBox="1"/>
          <p:nvPr/>
        </p:nvSpPr>
        <p:spPr>
          <a:xfrm>
            <a:off x="126187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不满意时可换版式、换主题、再导出</a:t>
            </a:r>
          </a:p>
        </p:txBody>
      </p:sp>
      <p:sp>
        <p:nvSpPr>
          <p:cNvPr id="137" name="Shape 137"/>
          <p:cNvSpPr/>
          <p:nvPr/>
        </p:nvSpPr>
        <p:spPr>
          <a:xfrm>
            <a:off x="6629400" y="2761488"/>
            <a:ext cx="109728" cy="109728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38" name="Text 138"/>
          <p:cNvSpPr txBox="1"/>
          <p:nvPr/>
        </p:nvSpPr>
        <p:spPr>
          <a:xfrm>
            <a:off x="6885432" y="2724912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聚焦内容</a:t>
            </a:r>
          </a:p>
        </p:txBody>
      </p:sp>
      <p:sp>
        <p:nvSpPr>
          <p:cNvPr id="139" name="Text 139"/>
          <p:cNvSpPr txBox="1"/>
          <p:nvPr/>
        </p:nvSpPr>
        <p:spPr>
          <a:xfrm>
            <a:off x="6885432" y="3072384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只替换文案、数据和页面重点</a:t>
            </a:r>
          </a:p>
        </p:txBody>
      </p:sp>
      <p:sp>
        <p:nvSpPr>
          <p:cNvPr id="140" name="Shape 140"/>
          <p:cNvSpPr/>
          <p:nvPr/>
        </p:nvSpPr>
        <p:spPr>
          <a:xfrm>
            <a:off x="6629400" y="3785616"/>
            <a:ext cx="109728" cy="109728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41" name="Text 141"/>
          <p:cNvSpPr txBox="1"/>
          <p:nvPr/>
        </p:nvSpPr>
        <p:spPr>
          <a:xfrm>
            <a:off x="6885432" y="3749040"/>
            <a:ext cx="411480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3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源文件可交接</a:t>
            </a:r>
          </a:p>
        </p:txBody>
      </p:sp>
      <p:sp>
        <p:nvSpPr>
          <p:cNvPr id="142" name="Text 142"/>
          <p:cNvSpPr txBox="1"/>
          <p:nvPr/>
        </p:nvSpPr>
        <p:spPr>
          <a:xfrm>
            <a:off x="6885432" y="4096512"/>
            <a:ext cx="4023360" cy="21945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/>
            </a:r>
          </a:p>
        </p:txBody>
      </p:sp>
      <p:sp>
        <p:nvSpPr>
          <p:cNvPr id="143" name="Text 143"/>
          <p:cNvSpPr txBox="1"/>
          <p:nvPr/>
        </p:nvSpPr>
        <p:spPr>
          <a:xfrm>
            <a:off x="731520" y="571500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稳定边界，换来快速迭代。</a:t>
            </a:r>
          </a:p>
        </p:txBody>
      </p:sp>
      <p:sp>
        <p:nvSpPr>
          <p:cNvPr id="100005" name="Slide number 5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145" name="Shape 145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146" name="Shape 146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47" name="Text 147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theme09_page023</a:t>
            </a:r>
          </a:p>
        </p:txBody>
      </p:sp>
      <p:sp>
        <p:nvSpPr>
          <p:cNvPr id="148" name="Text 148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149" name="Text 149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</a:t>
            </a:r>
          </a:p>
        </p:txBody>
      </p:sp>
      <p:sp>
        <p:nvSpPr>
          <p:cNvPr id="150" name="Text 150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从内容到成品，自动化逐层增加</a:t>
            </a:r>
          </a:p>
        </p:txBody>
      </p:sp>
      <p:sp>
        <p:nvSpPr>
          <p:cNvPr id="151" name="Text 151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查询、渲染、预览和导出让重复性工作交给工具完成。</a:t>
            </a:r>
          </a:p>
        </p:txBody>
      </p:sp>
      <p:sp>
        <p:nvSpPr>
          <p:cNvPr id="152" name="Text 152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53" name="Shape 153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54" name="Text 154"/>
          <p:cNvSpPr txBox="1"/>
          <p:nvPr/>
        </p:nvSpPr>
        <p:spPr>
          <a:xfrm>
            <a:off x="749808" y="1673352"/>
            <a:ext cx="29260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AUTOMATION MATURITY</a:t>
            </a:r>
          </a:p>
        </p:txBody>
      </p:sp>
      <p:sp>
        <p:nvSpPr>
          <p:cNvPr id="155" name="Shape 155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1270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56" name="Shape 156"/>
          <p:cNvSpPr/>
          <p:nvPr/>
        </p:nvSpPr>
        <p:spPr>
          <a:xfrm>
            <a:off x="960120" y="2011680"/>
            <a:ext cx="1" cy="2788920"/>
          </a:xfrm>
          <a:prstGeom prst="line">
            <a:avLst/>
          </a:prstGeom>
          <a:noFill/>
          <a:ln w="1270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57" name="Shape 157"/>
          <p:cNvSpPr/>
          <p:nvPr/>
        </p:nvSpPr>
        <p:spPr>
          <a:xfrm>
            <a:off x="960120" y="4800600"/>
            <a:ext cx="6858000" cy="1"/>
          </a:xfrm>
          <a:prstGeom prst="line">
            <a:avLst/>
          </a:prstGeom>
          <a:noFill/>
          <a:ln w="6350" cap="flat">
            <a:solidFill>
              <a:srgbClr val="34527C">
                <a:alpha val="55000"/>
              </a:srgbClr>
            </a:solidFill>
          </a:ln>
        </p:spPr>
      </p:sp>
      <p:sp>
        <p:nvSpPr>
          <p:cNvPr id="158" name="Text 158"/>
          <p:cNvSpPr txBox="1"/>
          <p:nvPr/>
        </p:nvSpPr>
        <p:spPr>
          <a:xfrm>
            <a:off x="594360" y="472744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59" name="Shape 159"/>
          <p:cNvSpPr/>
          <p:nvPr/>
        </p:nvSpPr>
        <p:spPr>
          <a:xfrm>
            <a:off x="960120" y="4103370"/>
            <a:ext cx="6858000" cy="1"/>
          </a:xfrm>
          <a:prstGeom prst="line">
            <a:avLst/>
          </a:prstGeom>
          <a:noFill/>
          <a:ln w="6350" cap="flat">
            <a:solidFill>
              <a:srgbClr val="34527C">
                <a:alpha val="55000"/>
              </a:srgbClr>
            </a:solidFill>
          </a:ln>
        </p:spPr>
      </p:sp>
      <p:sp>
        <p:nvSpPr>
          <p:cNvPr id="160" name="Text 160"/>
          <p:cNvSpPr txBox="1"/>
          <p:nvPr/>
        </p:nvSpPr>
        <p:spPr>
          <a:xfrm>
            <a:off x="594360" y="403021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161" name="Shape 161"/>
          <p:cNvSpPr/>
          <p:nvPr/>
        </p:nvSpPr>
        <p:spPr>
          <a:xfrm>
            <a:off x="960120" y="3406140"/>
            <a:ext cx="6858000" cy="1"/>
          </a:xfrm>
          <a:prstGeom prst="line">
            <a:avLst/>
          </a:prstGeom>
          <a:noFill/>
          <a:ln w="6350" cap="flat">
            <a:solidFill>
              <a:srgbClr val="34527C">
                <a:alpha val="55000"/>
              </a:srgbClr>
            </a:solidFill>
          </a:ln>
        </p:spPr>
      </p:sp>
      <p:sp>
        <p:nvSpPr>
          <p:cNvPr id="162" name="Text 162"/>
          <p:cNvSpPr txBox="1"/>
          <p:nvPr/>
        </p:nvSpPr>
        <p:spPr>
          <a:xfrm>
            <a:off x="594360" y="333298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  <p:sp>
        <p:nvSpPr>
          <p:cNvPr id="163" name="Shape 163"/>
          <p:cNvSpPr/>
          <p:nvPr/>
        </p:nvSpPr>
        <p:spPr>
          <a:xfrm>
            <a:off x="960120" y="2708910"/>
            <a:ext cx="6858000" cy="1"/>
          </a:xfrm>
          <a:prstGeom prst="line">
            <a:avLst/>
          </a:prstGeom>
          <a:noFill/>
          <a:ln w="6350" cap="flat">
            <a:solidFill>
              <a:srgbClr val="34527C">
                <a:alpha val="55000"/>
              </a:srgbClr>
            </a:solidFill>
          </a:ln>
        </p:spPr>
      </p:sp>
      <p:sp>
        <p:nvSpPr>
          <p:cNvPr id="164" name="Text 164"/>
          <p:cNvSpPr txBox="1"/>
          <p:nvPr/>
        </p:nvSpPr>
        <p:spPr>
          <a:xfrm>
            <a:off x="594360" y="263575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75</a:t>
            </a:r>
          </a:p>
        </p:txBody>
      </p:sp>
      <p:sp>
        <p:nvSpPr>
          <p:cNvPr id="165" name="Shape 165"/>
          <p:cNvSpPr/>
          <p:nvPr/>
        </p:nvSpPr>
        <p:spPr>
          <a:xfrm>
            <a:off x="960120" y="2011680"/>
            <a:ext cx="6858000" cy="1"/>
          </a:xfrm>
          <a:prstGeom prst="line">
            <a:avLst/>
          </a:prstGeom>
          <a:noFill/>
          <a:ln w="6350" cap="flat">
            <a:solidFill>
              <a:srgbClr val="34527C">
                <a:alpha val="55000"/>
              </a:srgbClr>
            </a:solidFill>
          </a:ln>
        </p:spPr>
      </p:sp>
      <p:sp>
        <p:nvSpPr>
          <p:cNvPr id="166" name="Text 166"/>
          <p:cNvSpPr txBox="1"/>
          <p:nvPr/>
        </p:nvSpPr>
        <p:spPr>
          <a:xfrm>
            <a:off x="594360" y="1938528"/>
            <a:ext cx="274320" cy="128016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</a:t>
            </a:r>
          </a:p>
        </p:txBody>
      </p:sp>
      <p:sp>
        <p:nvSpPr>
          <p:cNvPr id="167" name="Shape 167"/>
          <p:cNvSpPr/>
          <p:nvPr/>
        </p:nvSpPr>
        <p:spPr>
          <a:xfrm>
            <a:off x="1335024" y="4021074"/>
            <a:ext cx="164592" cy="164592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68" name="Text 168"/>
          <p:cNvSpPr txBox="1"/>
          <p:nvPr/>
        </p:nvSpPr>
        <p:spPr>
          <a:xfrm>
            <a:off x="1097280" y="369189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169" name="Text 169"/>
          <p:cNvSpPr txBox="1"/>
          <p:nvPr/>
        </p:nvSpPr>
        <p:spPr>
          <a:xfrm>
            <a:off x="91440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内容</a:t>
            </a:r>
          </a:p>
        </p:txBody>
      </p:sp>
      <p:sp>
        <p:nvSpPr>
          <p:cNvPr id="170" name="Shape 170"/>
          <p:cNvSpPr/>
          <p:nvPr/>
        </p:nvSpPr>
        <p:spPr>
          <a:xfrm flipV="1">
            <a:off x="1417320" y="3406140"/>
            <a:ext cx="1965960" cy="697230"/>
          </a:xfrm>
          <a:prstGeom prst="line">
            <a:avLst/>
          </a:prstGeom>
          <a:noFill/>
          <a:ln w="3175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71" name="Shape 171"/>
          <p:cNvSpPr/>
          <p:nvPr/>
        </p:nvSpPr>
        <p:spPr>
          <a:xfrm>
            <a:off x="3300984" y="3323844"/>
            <a:ext cx="164592" cy="164592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72" name="Text 172"/>
          <p:cNvSpPr txBox="1"/>
          <p:nvPr/>
        </p:nvSpPr>
        <p:spPr>
          <a:xfrm>
            <a:off x="3063240" y="299466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173" name="Text 173"/>
          <p:cNvSpPr txBox="1"/>
          <p:nvPr/>
        </p:nvSpPr>
        <p:spPr>
          <a:xfrm>
            <a:off x="288036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结构</a:t>
            </a:r>
          </a:p>
        </p:txBody>
      </p:sp>
      <p:sp>
        <p:nvSpPr>
          <p:cNvPr id="174" name="Shape 174"/>
          <p:cNvSpPr/>
          <p:nvPr/>
        </p:nvSpPr>
        <p:spPr>
          <a:xfrm flipV="1">
            <a:off x="3383280" y="2708910"/>
            <a:ext cx="1965960" cy="697230"/>
          </a:xfrm>
          <a:prstGeom prst="line">
            <a:avLst/>
          </a:prstGeom>
          <a:noFill/>
          <a:ln w="3175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75" name="Shape 175"/>
          <p:cNvSpPr/>
          <p:nvPr/>
        </p:nvSpPr>
        <p:spPr>
          <a:xfrm>
            <a:off x="5266944" y="2626614"/>
            <a:ext cx="164592" cy="164592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76" name="Text 176"/>
          <p:cNvSpPr txBox="1"/>
          <p:nvPr/>
        </p:nvSpPr>
        <p:spPr>
          <a:xfrm>
            <a:off x="5029200" y="229743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75%</a:t>
            </a:r>
          </a:p>
        </p:txBody>
      </p:sp>
      <p:sp>
        <p:nvSpPr>
          <p:cNvPr id="177" name="Text 177"/>
          <p:cNvSpPr txBox="1"/>
          <p:nvPr/>
        </p:nvSpPr>
        <p:spPr>
          <a:xfrm>
            <a:off x="484632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渲染</a:t>
            </a:r>
          </a:p>
        </p:txBody>
      </p:sp>
      <p:sp>
        <p:nvSpPr>
          <p:cNvPr id="178" name="Shape 178"/>
          <p:cNvSpPr/>
          <p:nvPr/>
        </p:nvSpPr>
        <p:spPr>
          <a:xfrm flipV="1">
            <a:off x="5349240" y="2011680"/>
            <a:ext cx="1965960" cy="697230"/>
          </a:xfrm>
          <a:prstGeom prst="line">
            <a:avLst/>
          </a:prstGeom>
          <a:noFill/>
          <a:ln w="3175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79" name="Shape 179"/>
          <p:cNvSpPr/>
          <p:nvPr/>
        </p:nvSpPr>
        <p:spPr>
          <a:xfrm>
            <a:off x="7232904" y="1929384"/>
            <a:ext cx="164592" cy="164592"/>
          </a:xfrm>
          <a:prstGeom prst="roundRect">
            <a:avLst/>
          </a:prstGeom>
          <a:solidFill>
            <a:srgbClr val="FFB14E">
              <a:alpha val="100000"/>
            </a:srgbClr>
          </a:solidFill>
          <a:ln w="10160" cap="flat">
            <a:solidFill>
              <a:srgbClr val="FFB14E">
                <a:alpha val="100000"/>
              </a:srgbClr>
            </a:solidFill>
          </a:ln>
        </p:spPr>
      </p:sp>
      <p:sp>
        <p:nvSpPr>
          <p:cNvPr id="180" name="Text 180"/>
          <p:cNvSpPr txBox="1"/>
          <p:nvPr/>
        </p:nvSpPr>
        <p:spPr>
          <a:xfrm>
            <a:off x="6995160" y="1600200"/>
            <a:ext cx="64008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81" name="Text 181"/>
          <p:cNvSpPr txBox="1"/>
          <p:nvPr/>
        </p:nvSpPr>
        <p:spPr>
          <a:xfrm>
            <a:off x="6812280" y="5047488"/>
            <a:ext cx="100584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交付</a:t>
            </a:r>
          </a:p>
        </p:txBody>
      </p:sp>
      <p:sp>
        <p:nvSpPr>
          <p:cNvPr id="182" name="Shape 182"/>
          <p:cNvSpPr/>
          <p:nvPr/>
        </p:nvSpPr>
        <p:spPr>
          <a:xfrm>
            <a:off x="8366760" y="1938528"/>
            <a:ext cx="3063240" cy="333756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83" name="Text 183"/>
          <p:cNvSpPr txBox="1"/>
          <p:nvPr/>
        </p:nvSpPr>
        <p:spPr>
          <a:xfrm>
            <a:off x="8686800" y="2304288"/>
            <a:ext cx="137160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 b="1">
                <a:solidFill>
                  <a:srgbClr val="F7F4EA">
                    <a:alpha val="100000"/>
                  </a:srgbClr>
                </a:solidFill>
                <a:latin typeface="Aptos"/>
                <a:ea typeface="Aptos"/>
                <a:cs typeface="Aptos"/>
              </a:rPr>
              <a:t>关键判断</a:t>
            </a:r>
          </a:p>
        </p:txBody>
      </p:sp>
      <p:sp>
        <p:nvSpPr>
          <p:cNvPr id="184" name="Text 184"/>
          <p:cNvSpPr txBox="1"/>
          <p:nvPr/>
        </p:nvSpPr>
        <p:spPr>
          <a:xfrm>
            <a:off x="8686800" y="3063240"/>
            <a:ext cx="2331720" cy="10058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连接工具，Skill 约束方法，Agent 保留判断。</a:t>
            </a:r>
          </a:p>
        </p:txBody>
      </p:sp>
      <p:sp>
        <p:nvSpPr>
          <p:cNvPr id="100006" name="Slide number 6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186" name="Shape 186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187" name="Shape 187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88" name="Text 188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theme09_page109</a:t>
            </a:r>
          </a:p>
        </p:txBody>
      </p:sp>
      <p:sp>
        <p:nvSpPr>
          <p:cNvPr id="189" name="Text 189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190" name="Text 190"/>
          <p:cNvSpPr txBox="1"/>
          <p:nvPr/>
        </p:nvSpPr>
        <p:spPr>
          <a:xfrm>
            <a:off x="685800" y="384048"/>
            <a:ext cx="5029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REPO MAP</a:t>
            </a:r>
          </a:p>
        </p:txBody>
      </p:sp>
      <p:sp>
        <p:nvSpPr>
          <p:cNvPr id="191" name="Text 191"/>
          <p:cNvSpPr txBox="1"/>
          <p:nvPr/>
        </p:nvSpPr>
        <p:spPr>
          <a:xfrm>
            <a:off x="685800" y="713232"/>
            <a:ext cx="9601200" cy="53035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25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一个仓库，完整链路</a:t>
            </a:r>
          </a:p>
        </p:txBody>
      </p:sp>
      <p:sp>
        <p:nvSpPr>
          <p:cNvPr id="192" name="Text 192"/>
          <p:cNvSpPr txBox="1"/>
          <p:nvPr/>
        </p:nvSpPr>
        <p:spPr>
          <a:xfrm>
            <a:off x="713232" y="1335024"/>
            <a:ext cx="8595360" cy="29260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1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Skill、MCP 与 Runtime 协同工作。</a:t>
            </a:r>
          </a:p>
        </p:txBody>
      </p:sp>
      <p:sp>
        <p:nvSpPr>
          <p:cNvPr id="193" name="Text 193"/>
          <p:cNvSpPr txBox="1"/>
          <p:nvPr/>
        </p:nvSpPr>
        <p:spPr>
          <a:xfrm>
            <a:off x="10652760" y="393192"/>
            <a:ext cx="77724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9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194" name="Shape 194"/>
          <p:cNvSpPr/>
          <p:nvPr/>
        </p:nvSpPr>
        <p:spPr>
          <a:xfrm>
            <a:off x="713232" y="1719072"/>
            <a:ext cx="10735056" cy="1"/>
          </a:xfrm>
          <a:prstGeom prst="line">
            <a:avLst/>
          </a:prstGeom>
          <a:noFill/>
          <a:ln w="889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95" name="Shape 195"/>
          <p:cNvSpPr/>
          <p:nvPr/>
        </p:nvSpPr>
        <p:spPr>
          <a:xfrm>
            <a:off x="777240" y="1719072"/>
            <a:ext cx="10652760" cy="841248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196" name="Text 196"/>
          <p:cNvSpPr txBox="1"/>
          <p:nvPr/>
        </p:nvSpPr>
        <p:spPr>
          <a:xfrm>
            <a:off x="1051560" y="1984248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97" name="Text 197"/>
          <p:cNvSpPr txBox="1"/>
          <p:nvPr/>
        </p:nvSpPr>
        <p:spPr>
          <a:xfrm>
            <a:off x="1691640" y="1920240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.agents/skills/dashi-ppt</a:t>
            </a:r>
          </a:p>
        </p:txBody>
      </p:sp>
      <p:sp>
        <p:nvSpPr>
          <p:cNvPr id="198" name="Text 198"/>
          <p:cNvSpPr txBox="1"/>
          <p:nvPr/>
        </p:nvSpPr>
        <p:spPr>
          <a:xfrm>
            <a:off x="6080760" y="1975104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按需加载的主题与制作规则</a:t>
            </a:r>
          </a:p>
        </p:txBody>
      </p:sp>
      <p:sp>
        <p:nvSpPr>
          <p:cNvPr id="199" name="Shape 199"/>
          <p:cNvSpPr/>
          <p:nvPr/>
        </p:nvSpPr>
        <p:spPr>
          <a:xfrm>
            <a:off x="777240" y="2889504"/>
            <a:ext cx="10652760" cy="841248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200" name="Text 200"/>
          <p:cNvSpPr txBox="1"/>
          <p:nvPr/>
        </p:nvSpPr>
        <p:spPr>
          <a:xfrm>
            <a:off x="1051560" y="3154680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7ED7E7">
                    <a:alpha val="100000"/>
                  </a:srgbClr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01" name="Text 201"/>
          <p:cNvSpPr txBox="1"/>
          <p:nvPr/>
        </p:nvSpPr>
        <p:spPr>
          <a:xfrm>
            <a:off x="1691640" y="3090672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.agents/mcp_config.json</a:t>
            </a:r>
          </a:p>
        </p:txBody>
      </p:sp>
      <p:sp>
        <p:nvSpPr>
          <p:cNvPr id="202" name="Text 202"/>
          <p:cNvSpPr txBox="1"/>
          <p:nvPr/>
        </p:nvSpPr>
        <p:spPr>
          <a:xfrm>
            <a:off x="6080760" y="3145536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工作区级 MCP 注册文件</a:t>
            </a:r>
          </a:p>
        </p:txBody>
      </p:sp>
      <p:sp>
        <p:nvSpPr>
          <p:cNvPr id="203" name="Shape 203"/>
          <p:cNvSpPr/>
          <p:nvPr/>
        </p:nvSpPr>
        <p:spPr>
          <a:xfrm>
            <a:off x="777240" y="4059936"/>
            <a:ext cx="10652760" cy="841248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204" name="Text 204"/>
          <p:cNvSpPr txBox="1"/>
          <p:nvPr/>
        </p:nvSpPr>
        <p:spPr>
          <a:xfrm>
            <a:off x="1051560" y="4325112"/>
            <a:ext cx="457200" cy="18288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05" name="Text 205"/>
          <p:cNvSpPr txBox="1"/>
          <p:nvPr/>
        </p:nvSpPr>
        <p:spPr>
          <a:xfrm>
            <a:off x="1691640" y="4261104"/>
            <a:ext cx="4160520" cy="25603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400" b="1">
                <a:solidFill>
                  <a:srgbClr val="F7F4EA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mcp/server.mjs  +  skills/dashi-ppt</a:t>
            </a:r>
          </a:p>
        </p:txBody>
      </p:sp>
      <p:sp>
        <p:nvSpPr>
          <p:cNvPr id="206" name="Text 206"/>
          <p:cNvSpPr txBox="1"/>
          <p:nvPr/>
        </p:nvSpPr>
        <p:spPr>
          <a:xfrm>
            <a:off x="6080760" y="4315968"/>
            <a:ext cx="475488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主题、版式与渲染运行时</a:t>
            </a:r>
          </a:p>
        </p:txBody>
      </p:sp>
      <p:sp>
        <p:nvSpPr>
          <p:cNvPr id="207" name="Text 207"/>
          <p:cNvSpPr txBox="1"/>
          <p:nvPr/>
        </p:nvSpPr>
        <p:spPr>
          <a:xfrm>
            <a:off x="731520" y="5669280"/>
            <a:ext cx="10789920" cy="32004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ctr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源文件和成品一起归档，方便交接。</a:t>
            </a:r>
          </a:p>
        </p:txBody>
      </p:sp>
      <p:sp>
        <p:nvSpPr>
          <p:cNvPr id="100007" name="Slide number 7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bg>
    <p:bgPr>
      <a:solidFill>
        <a:srgbClr val="0A1936">
          <a:alpha val="100000"/>
        </a:srgbClr>
      </a:solidFill>
      <a:effectLst/>
    </p:bgPr>
  </p:bg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Shape 208"/>
          <p:cNvSpPr/>
          <p:nvPr/>
        </p:nvSpPr>
        <p:spPr>
          <a:xfrm>
            <a:off x="256032" y="0"/>
            <a:ext cx="164592" cy="6858000"/>
          </a:xfrm>
          <a:prstGeom prst="rect">
            <a:avLst/>
          </a:prstGeom>
          <a:solidFill>
            <a:srgbClr val="FFB14E">
              <a:alpha val="100000"/>
            </a:srgbClr>
          </a:solidFill>
          <a:ln w="0">
            <a:noFill/>
          </a:ln>
        </p:spPr>
      </p:sp>
      <p:sp>
        <p:nvSpPr>
          <p:cNvPr id="209" name="Shape 209"/>
          <p:cNvSpPr/>
          <p:nvPr/>
        </p:nvSpPr>
        <p:spPr>
          <a:xfrm>
            <a:off x="11631168" y="0"/>
            <a:ext cx="54864" cy="6858000"/>
          </a:xfrm>
          <a:prstGeom prst="rect">
            <a:avLst/>
          </a:prstGeom>
          <a:solidFill>
            <a:srgbClr val="7ED7E7">
              <a:alpha val="100000"/>
            </a:srgbClr>
          </a:solidFill>
          <a:ln w="0">
            <a:noFill/>
          </a:ln>
        </p:spPr>
      </p:sp>
      <p:sp>
        <p:nvSpPr>
          <p:cNvPr id="210" name="Shape 210"/>
          <p:cNvSpPr/>
          <p:nvPr/>
        </p:nvSpPr>
        <p:spPr>
          <a:xfrm>
            <a:off x="713232" y="6327648"/>
            <a:ext cx="10762488" cy="1"/>
          </a:xfrm>
          <a:prstGeom prst="line">
            <a:avLst/>
          </a:prstGeom>
          <a:noFill/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211" name="Text 211"/>
          <p:cNvSpPr txBox="1"/>
          <p:nvPr/>
        </p:nvSpPr>
        <p:spPr>
          <a:xfrm>
            <a:off x="713232" y="6419088"/>
            <a:ext cx="594360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theme09 · theme09_page009</a:t>
            </a:r>
          </a:p>
        </p:txBody>
      </p:sp>
      <p:sp>
        <p:nvSpPr>
          <p:cNvPr id="212" name="Text 212"/>
          <p:cNvSpPr txBox="1"/>
          <p:nvPr/>
        </p:nvSpPr>
        <p:spPr>
          <a:xfrm>
            <a:off x="8595360" y="6419088"/>
            <a:ext cx="237744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7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深蓝杂志风</a:t>
            </a:r>
          </a:p>
        </p:txBody>
      </p:sp>
      <p:sp>
        <p:nvSpPr>
          <p:cNvPr id="213" name="Text 213"/>
          <p:cNvSpPr txBox="1"/>
          <p:nvPr/>
        </p:nvSpPr>
        <p:spPr>
          <a:xfrm>
            <a:off x="685800" y="713232"/>
            <a:ext cx="3840480" cy="22860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0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Start Here</a:t>
            </a:r>
          </a:p>
        </p:txBody>
      </p:sp>
      <p:sp>
        <p:nvSpPr>
          <p:cNvPr id="214" name="Text 214"/>
          <p:cNvSpPr txBox="1"/>
          <p:nvPr/>
        </p:nvSpPr>
        <p:spPr>
          <a:xfrm>
            <a:off x="685800" y="1353312"/>
            <a:ext cx="8046720" cy="9601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3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defRPr>
            </a:pPr>
            <a:r>
              <a:rPr lang="zh-CN" sz="3000" b="1">
                <a:solidFill>
                  <a:srgbClr val="F7F4EA">
                    <a:alpha val="100000"/>
                  </a:srgbClr>
                </a:solidFill>
                <a:latin typeface="Aptos Display"/>
                <a:ea typeface="Aptos Display"/>
                <a:cs typeface="Aptos Display"/>
              </a:rPr>
              <a:t>下一步</a:t>
            </a:r>
          </a:p>
        </p:txBody>
      </p:sp>
      <p:sp>
        <p:nvSpPr>
          <p:cNvPr id="215" name="Text 215"/>
          <p:cNvSpPr txBox="1"/>
          <p:nvPr/>
        </p:nvSpPr>
        <p:spPr>
          <a:xfrm>
            <a:off x="713232" y="2633472"/>
            <a:ext cx="58521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6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6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12 个主题 · 一套工作流</a:t>
            </a:r>
          </a:p>
        </p:txBody>
      </p:sp>
      <p:sp>
        <p:nvSpPr>
          <p:cNvPr id="216" name="Shape 216"/>
          <p:cNvSpPr/>
          <p:nvPr/>
        </p:nvSpPr>
        <p:spPr>
          <a:xfrm>
            <a:off x="713232" y="3886200"/>
            <a:ext cx="7726680" cy="914400"/>
          </a:xfrm>
          <a:prstGeom prst="roundRect">
            <a:avLst/>
          </a:prstGeom>
          <a:solidFill>
            <a:srgbClr val="10254A">
              <a:alpha val="100000"/>
            </a:srgbClr>
          </a:solidFill>
          <a:ln w="10160" cap="flat">
            <a:solidFill>
              <a:srgbClr val="34527C">
                <a:alpha val="100000"/>
              </a:srgbClr>
            </a:solidFill>
          </a:ln>
        </p:spPr>
      </p:sp>
      <p:sp>
        <p:nvSpPr>
          <p:cNvPr id="217" name="Text 217"/>
          <p:cNvSpPr txBox="1"/>
          <p:nvPr/>
        </p:nvSpPr>
        <p:spPr>
          <a:xfrm>
            <a:off x="987552" y="412394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200">
                <a:solidFill>
                  <a:srgbClr val="7ED7E7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200">
                <a:solidFill>
                  <a:srgbClr val="7ED7E7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git clone -b arena/01a038e7-dashi-ppt-skill</a:t>
            </a:r>
          </a:p>
        </p:txBody>
      </p:sp>
      <p:sp>
        <p:nvSpPr>
          <p:cNvPr id="218" name="Text 218"/>
          <p:cNvSpPr txBox="1"/>
          <p:nvPr/>
        </p:nvSpPr>
        <p:spPr>
          <a:xfrm>
            <a:off x="987552" y="4443984"/>
            <a:ext cx="7086600" cy="201168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0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defRPr>
            </a:pPr>
            <a:r>
              <a:rPr lang="zh-CN" sz="1000">
                <a:solidFill>
                  <a:srgbClr val="A3B3CE">
                    <a:alpha val="100000"/>
                  </a:srgbClr>
                </a:solidFill>
                <a:latin typeface="Aptos Mono"/>
                <a:ea typeface="Aptos Mono"/>
                <a:cs typeface="Aptos Mono"/>
              </a:rPr>
              <a:t>https://github.com/mqgg5630-cyber/dashi-ppt-skill.git</a:t>
            </a:r>
          </a:p>
        </p:txBody>
      </p:sp>
      <p:sp>
        <p:nvSpPr>
          <p:cNvPr id="219" name="Text 219"/>
          <p:cNvSpPr txBox="1"/>
          <p:nvPr/>
        </p:nvSpPr>
        <p:spPr>
          <a:xfrm>
            <a:off x="731520" y="5687568"/>
            <a:ext cx="7680960" cy="347472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l">
              <a:defRPr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500" b="1">
                <a:solidFill>
                  <a:srgbClr val="FFB14E">
                    <a:alpha val="100000"/>
                  </a:srgbClr>
                </a:solidFill>
                <a:latin typeface="Aptos"/>
                <a:ea typeface="Aptos"/>
                <a:cs typeface="Aptos"/>
              </a:rPr>
              <a:t>选择主题，开始制作。</a:t>
            </a:r>
          </a:p>
        </p:txBody>
      </p:sp>
      <p:sp>
        <p:nvSpPr>
          <p:cNvPr id="220" name="Text 220"/>
          <p:cNvSpPr txBox="1"/>
          <p:nvPr/>
        </p:nvSpPr>
        <p:spPr>
          <a:xfrm>
            <a:off x="8503920" y="4709160"/>
            <a:ext cx="2606040" cy="274320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12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1200" b="1">
                <a:solidFill>
                  <a:srgbClr val="C7B1FF">
                    <a:alpha val="100000"/>
                  </a:srgbClr>
                </a:solidFill>
                <a:latin typeface="Aptos"/>
                <a:ea typeface="Aptos"/>
                <a:cs typeface="Aptos"/>
              </a:rPr>
              <a:t>MCP  /  SKILL  /  PPTX</a:t>
            </a:r>
          </a:p>
        </p:txBody>
      </p:sp>
      <p:sp>
        <p:nvSpPr>
          <p:cNvPr id="100008" name="Slide number 8"/>
          <p:cNvSpPr txBox="1"/>
          <p:nvPr/>
        </p:nvSpPr>
        <p:spPr>
          <a:xfrm>
            <a:off x="11292840" y="6473952"/>
            <a:ext cx="411480" cy="146304"/>
          </a:xfrm>
          <a:prstGeom prst="rect">
            <a:avLst/>
          </a:prstGeom>
          <a:noFill/>
          <a:ln w="0">
            <a:noFill/>
          </a:ln>
        </p:spPr>
        <p:txBody>
          <a:bodyPr wrap="square" anchor="ctr" lIns="0" rIns="0" tIns="0" bIns="0">
            <a:spAutoFit/>
          </a:bodyPr>
          <a:lstStyle/>
          <a:p>
            <a:pPr algn="r">
              <a:defRPr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defRPr>
            </a:pPr>
            <a:r>
              <a:rPr lang="zh-CN" sz="800">
                <a:solidFill>
                  <a:srgbClr val="A3B3CE">
                    <a:alpha val="100000"/>
                  </a:srgbClr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ashi PPT Native Theme">
  <a:themeElements>
    <a:clrScheme name="Dashi">
      <a:dk1>
        <a:sysClr val="windowText" lastClr="000000"/>
      </a:dk1>
      <a:lt1>
        <a:sysClr val="window" lastClr="FFFFFF"/>
      </a:lt1>
      <a:dk2>
        <a:srgbClr val="1F1F1F"/>
      </a:dk2>
      <a:lt2>
        <a:srgbClr val="F7F7F7"/>
      </a:lt2>
      <a:accent1>
        <a:srgbClr val="5B8DEF"/>
      </a:accent1>
      <a:accent2>
        <a:srgbClr val="46B083"/>
      </a:accent2>
      <a:accent3>
        <a:srgbClr val="7A5AE0"/>
      </a:accent3>
      <a:accent4>
        <a:srgbClr val="E0A23A"/>
      </a:accent4>
      <a:accent5>
        <a:srgbClr val="E95078"/>
      </a:accent5>
      <a:accent6>
        <a:srgbClr val="3BB6EC"/>
      </a:accent6>
      <a:hlink>
        <a:srgbClr val="0563C1"/>
      </a:hlink>
      <a:folHlink>
        <a:srgbClr val="954F72"/>
      </a:folHlink>
    </a:clrScheme>
    <a:fontScheme name="Dashi">
      <a:majorFont>
        <a:latin typeface="Aptos Display"/>
        <a:ea typeface="Aptos Display"/>
        <a:cs typeface="Aptos Display"/>
      </a:majorFont>
      <a:minorFont>
        <a:latin typeface="Aptos"/>
        <a:ea typeface="Aptos"/>
        <a:cs typeface="Aptos"/>
      </a:minorFont>
    </a:fontScheme>
    <a:fmtScheme name="Dashi">
      <a:fillStyleLst>
        <a:solidFill>
          <a:srgbClr val="FFFFFF"/>
        </a:solidFill>
      </a:fillStyleLst>
      <a:lnStyleLst>
        <a:ln w="9525">
          <a:solidFill>
            <a:srgbClr val="000000"/>
          </a:solidFill>
        </a:ln>
      </a:lnStyleLst>
      <a:effectStyleLst/>
      <a:bgFillStyleLst>
        <a:solidFill>
          <a:srgbClr val="FFFFFF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8</vt:i4>
      </vt:variant>
    </vt:vector>
  </HeadingPairs>
  <TitlesOfParts>
    <vt:vector size="8" baseType="lpstr"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Dashi PPT 主题示例｜theme09</dc:title>
  <dc:subject>展示 theme09 主题下的 Dashi PPT 内容组织、版式选择与可编辑交付</dc:subject>
  <dc:creator>Dashi PPT</dc:creator>
  <cp:lastModifiedBy>Dashi PPT</cp:lastModifiedBy>
  <dcterms:created xsi:type="dcterms:W3CDTF">2026-08-27T12:10:54.954Z</dcterms:created>
  <dcterms:modified xsi:type="dcterms:W3CDTF">2026-08-27T12:10:54.954Z</dcterms:modified>
</cp:coreProperties>
</file>