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/>
    <a:lvl1pPr marL="0" algn="l"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17110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7110B">
          <a:alpha val="100000"/>
        </a:srgbClr>
      </a:solidFill>
      <a:effectLst/>
    </p:bgPr>
  </p:bg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046720" y="18288"/>
            <a:ext cx="4023360" cy="1188720"/>
          </a:xfrm>
          <a:prstGeom prst="line">
            <a:avLst/>
          </a:prstGeom>
          <a:noFill/>
          <a:ln w="63500" cap="flat">
            <a:solidFill>
              <a:srgbClr val="FF6B3D">
                <a:alpha val="60000"/>
              </a:srgbClr>
            </a:solidFill>
          </a:ln>
        </p:spPr>
      </p:sp>
      <p:sp>
        <p:nvSpPr>
          <p:cNvPr id="3" name="Shape 3"/>
          <p:cNvSpPr/>
          <p:nvPr/>
        </p:nvSpPr>
        <p:spPr>
          <a:xfrm>
            <a:off x="8668512" y="18288"/>
            <a:ext cx="3401568" cy="1005840"/>
          </a:xfrm>
          <a:prstGeom prst="line">
            <a:avLst/>
          </a:prstGeom>
          <a:noFill/>
          <a:ln w="15240" cap="flat">
            <a:solidFill>
              <a:srgbClr val="FF8BCB">
                <a:alpha val="75000"/>
              </a:srgbClr>
            </a:solidFill>
          </a:ln>
        </p:spPr>
      </p:sp>
      <p:sp>
        <p:nvSpPr>
          <p:cNvPr id="4" name="Shape 4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7780" cap="flat">
            <a:solidFill>
              <a:srgbClr val="FF6B3D">
                <a:alpha val="100000"/>
              </a:srgbClr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theme11 · theme11_page001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高能增长风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58368" y="566928"/>
            <a:ext cx="74066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THEME11  /  高能增长风  /  ANTIGRAVITY EDITION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1115568"/>
            <a:ext cx="6446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主题预览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94944" y="2633472"/>
            <a:ext cx="521208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套视觉语言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94944" y="3675888"/>
            <a:ext cx="512064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8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8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0" y="841248"/>
            <a:ext cx="356616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 STACK</a:t>
            </a:r>
          </a:p>
        </p:txBody>
      </p:sp>
      <p:sp>
        <p:nvSpPr>
          <p:cNvPr id="12" name="Shape 12"/>
          <p:cNvSpPr/>
          <p:nvPr/>
        </p:nvSpPr>
        <p:spPr>
          <a:xfrm>
            <a:off x="7479792" y="1325880"/>
            <a:ext cx="3886200" cy="786384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699248" y="1499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8BCB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8BCB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174736" y="1472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Agent Skill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174736" y="1783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方法与质量边界</a:t>
            </a:r>
          </a:p>
        </p:txBody>
      </p:sp>
      <p:sp>
        <p:nvSpPr>
          <p:cNvPr id="16" name="Shape 16"/>
          <p:cNvSpPr/>
          <p:nvPr/>
        </p:nvSpPr>
        <p:spPr>
          <a:xfrm>
            <a:off x="9418320" y="2130552"/>
            <a:ext cx="1" cy="292608"/>
          </a:xfrm>
          <a:prstGeom prst="line">
            <a:avLst/>
          </a:prstGeom>
          <a:noFill/>
          <a:ln w="17780" cap="flat">
            <a:solidFill>
              <a:srgbClr val="FF8BCB">
                <a:alpha val="100000"/>
              </a:srgbClr>
            </a:solidFill>
            <a:tailEnd type="triangle" w="sm" len="sm"/>
          </a:ln>
        </p:spPr>
      </p:sp>
      <p:sp>
        <p:nvSpPr>
          <p:cNvPr id="17" name="Shape 17"/>
          <p:cNvSpPr/>
          <p:nvPr/>
        </p:nvSpPr>
        <p:spPr>
          <a:xfrm>
            <a:off x="7479792" y="2468880"/>
            <a:ext cx="3886200" cy="786384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699248" y="2642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51D7C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51D7C1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174736" y="2615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174736" y="2926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工具连接与执行</a:t>
            </a:r>
          </a:p>
        </p:txBody>
      </p:sp>
      <p:sp>
        <p:nvSpPr>
          <p:cNvPr id="21" name="Shape 21"/>
          <p:cNvSpPr/>
          <p:nvPr/>
        </p:nvSpPr>
        <p:spPr>
          <a:xfrm>
            <a:off x="9418320" y="3273552"/>
            <a:ext cx="1" cy="292608"/>
          </a:xfrm>
          <a:prstGeom prst="line">
            <a:avLst/>
          </a:prstGeom>
          <a:noFill/>
          <a:ln w="17780" cap="flat">
            <a:solidFill>
              <a:srgbClr val="51D7C1">
                <a:alpha val="100000"/>
              </a:srgbClr>
            </a:solidFill>
            <a:tailEnd type="triangle" w="sm" len="sm"/>
          </a:ln>
        </p:spPr>
      </p:sp>
      <p:sp>
        <p:nvSpPr>
          <p:cNvPr id="22" name="Shape 22"/>
          <p:cNvSpPr/>
          <p:nvPr/>
        </p:nvSpPr>
        <p:spPr>
          <a:xfrm>
            <a:off x="7479792" y="3611880"/>
            <a:ext cx="3886200" cy="786384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7699248" y="3785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174736" y="3758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Runtime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174736" y="4069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HTML / PPTX 产物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949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949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视觉主题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25237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25237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版式页面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43525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43525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可调控件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0698480" y="6199632"/>
            <a:ext cx="7315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00001" name="Slide number 1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7110B">
          <a:alpha val="100000"/>
        </a:srgbClr>
      </a:solidFill>
      <a:effectLst/>
    </p:bgPr>
  </p:bg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/>
        </p:nvSpPr>
        <p:spPr>
          <a:xfrm>
            <a:off x="8046720" y="18288"/>
            <a:ext cx="4023360" cy="1188720"/>
          </a:xfrm>
          <a:prstGeom prst="line">
            <a:avLst/>
          </a:prstGeom>
          <a:noFill/>
          <a:ln w="63500" cap="flat">
            <a:solidFill>
              <a:srgbClr val="FF6B3D">
                <a:alpha val="60000"/>
              </a:srgbClr>
            </a:solidFill>
          </a:ln>
        </p:spPr>
      </p:sp>
      <p:sp>
        <p:nvSpPr>
          <p:cNvPr id="34" name="Shape 34"/>
          <p:cNvSpPr/>
          <p:nvPr/>
        </p:nvSpPr>
        <p:spPr>
          <a:xfrm>
            <a:off x="8668512" y="18288"/>
            <a:ext cx="3401568" cy="1005840"/>
          </a:xfrm>
          <a:prstGeom prst="line">
            <a:avLst/>
          </a:prstGeom>
          <a:noFill/>
          <a:ln w="15240" cap="flat">
            <a:solidFill>
              <a:srgbClr val="FF8BCB">
                <a:alpha val="75000"/>
              </a:srgbClr>
            </a:solidFill>
          </a:ln>
        </p:spPr>
      </p:sp>
      <p:sp>
        <p:nvSpPr>
          <p:cNvPr id="35" name="Shape 35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7780" cap="flat">
            <a:solidFill>
              <a:srgbClr val="FF6B3D">
                <a:alpha val="100000"/>
              </a:srgbClr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theme11 · theme11_page028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高能增长风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DESIGN LANGUAGE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主题决定第一印象，也决定信息节奏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同一份内容可以用不同视觉语言表达，重点、密度和情绪随主题变化。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2" name="Shape 42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6D3A1E">
                <a:alpha val="100000"/>
              </a:srgbClr>
            </a:solidFill>
          </a:ln>
        </p:spPr>
      </p:sp>
      <p:sp>
        <p:nvSpPr>
          <p:cNvPr id="43" name="Shape 43"/>
          <p:cNvSpPr/>
          <p:nvPr/>
        </p:nvSpPr>
        <p:spPr>
          <a:xfrm>
            <a:off x="685800" y="1874520"/>
            <a:ext cx="3401568" cy="2834640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941832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8BCB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8BCB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2862072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FF8BCB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8BCB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941832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语气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941832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从克制研究到高能增长，先确定表达气质</a:t>
            </a:r>
          </a:p>
        </p:txBody>
      </p:sp>
      <p:sp>
        <p:nvSpPr>
          <p:cNvPr id="48" name="Shape 48"/>
          <p:cNvSpPr/>
          <p:nvPr/>
        </p:nvSpPr>
        <p:spPr>
          <a:xfrm>
            <a:off x="941832" y="4315968"/>
            <a:ext cx="2743200" cy="1"/>
          </a:xfrm>
          <a:prstGeom prst="line">
            <a:avLst/>
          </a:prstGeom>
          <a:noFill/>
          <a:ln w="25400" cap="flat">
            <a:solidFill>
              <a:srgbClr val="FF8BCB">
                <a:alpha val="100000"/>
              </a:srgbClr>
            </a:solidFill>
          </a:ln>
        </p:spPr>
      </p:sp>
      <p:sp>
        <p:nvSpPr>
          <p:cNvPr id="49" name="Shape 49"/>
          <p:cNvSpPr/>
          <p:nvPr/>
        </p:nvSpPr>
        <p:spPr>
          <a:xfrm>
            <a:off x="4507992" y="1874520"/>
            <a:ext cx="3401568" cy="2834640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4764024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51D7C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51D7C1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6684264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51D7C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51D7C1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4764024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层级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4764024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主题内置标题、指标、图表与留白规则</a:t>
            </a:r>
          </a:p>
        </p:txBody>
      </p:sp>
      <p:sp>
        <p:nvSpPr>
          <p:cNvPr id="54" name="Shape 54"/>
          <p:cNvSpPr/>
          <p:nvPr/>
        </p:nvSpPr>
        <p:spPr>
          <a:xfrm>
            <a:off x="4764024" y="4315968"/>
            <a:ext cx="2743200" cy="1"/>
          </a:xfrm>
          <a:prstGeom prst="line">
            <a:avLst/>
          </a:prstGeom>
          <a:noFill/>
          <a:ln w="25400" cap="flat">
            <a:solidFill>
              <a:srgbClr val="51D7C1">
                <a:alpha val="100000"/>
              </a:srgbClr>
            </a:solidFill>
          </a:ln>
        </p:spPr>
      </p:sp>
      <p:sp>
        <p:nvSpPr>
          <p:cNvPr id="55" name="Shape 55"/>
          <p:cNvSpPr/>
          <p:nvPr/>
        </p:nvSpPr>
        <p:spPr>
          <a:xfrm>
            <a:off x="8330184" y="1874520"/>
            <a:ext cx="3401568" cy="2834640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56" name="Text 56"/>
          <p:cNvSpPr txBox="1"/>
          <p:nvPr/>
        </p:nvSpPr>
        <p:spPr>
          <a:xfrm>
            <a:off x="8586216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10506456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8586216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一致性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8586216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整份 deck 使用同一套视觉系统，减少手工调整</a:t>
            </a:r>
          </a:p>
        </p:txBody>
      </p:sp>
      <p:sp>
        <p:nvSpPr>
          <p:cNvPr id="60" name="Shape 60"/>
          <p:cNvSpPr/>
          <p:nvPr/>
        </p:nvSpPr>
        <p:spPr>
          <a:xfrm>
            <a:off x="8586216" y="4315968"/>
            <a:ext cx="2743200" cy="1"/>
          </a:xfrm>
          <a:prstGeom prst="line">
            <a:avLst/>
          </a:prstGeom>
          <a:noFill/>
          <a:ln w="25400" cap="flat">
            <a:solidFill>
              <a:srgbClr val="FF6B3D">
                <a:alpha val="100000"/>
              </a:srgbClr>
            </a:solidFill>
          </a:ln>
        </p:spPr>
      </p:sp>
      <p:sp>
        <p:nvSpPr>
          <p:cNvPr id="61" name="Text 61"/>
          <p:cNvSpPr txBox="1"/>
          <p:nvPr/>
        </p:nvSpPr>
        <p:spPr>
          <a:xfrm>
            <a:off x="731520" y="5230368"/>
            <a:ext cx="1078992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先选对主题，再让版式服务于内容。</a:t>
            </a:r>
          </a:p>
        </p:txBody>
      </p:sp>
      <p:sp>
        <p:nvSpPr>
          <p:cNvPr id="100002" name="Slide number 2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7110B">
          <a:alpha val="100000"/>
        </a:srgbClr>
      </a:solidFill>
      <a:effectLst/>
    </p:bgPr>
  </p:bg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8046720" y="18288"/>
            <a:ext cx="4023360" cy="1188720"/>
          </a:xfrm>
          <a:prstGeom prst="line">
            <a:avLst/>
          </a:prstGeom>
          <a:noFill/>
          <a:ln w="63500" cap="flat">
            <a:solidFill>
              <a:srgbClr val="FF6B3D">
                <a:alpha val="60000"/>
              </a:srgbClr>
            </a:solidFill>
          </a:ln>
        </p:spPr>
      </p:sp>
      <p:sp>
        <p:nvSpPr>
          <p:cNvPr id="63" name="Shape 63"/>
          <p:cNvSpPr/>
          <p:nvPr/>
        </p:nvSpPr>
        <p:spPr>
          <a:xfrm>
            <a:off x="8668512" y="18288"/>
            <a:ext cx="3401568" cy="1005840"/>
          </a:xfrm>
          <a:prstGeom prst="line">
            <a:avLst/>
          </a:prstGeom>
          <a:noFill/>
          <a:ln w="15240" cap="flat">
            <a:solidFill>
              <a:srgbClr val="FF8BCB">
                <a:alpha val="75000"/>
              </a:srgbClr>
            </a:solidFill>
          </a:ln>
        </p:spPr>
      </p:sp>
      <p:sp>
        <p:nvSpPr>
          <p:cNvPr id="64" name="Shape 64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7780" cap="flat">
            <a:solidFill>
              <a:srgbClr val="FF6B3D">
                <a:alpha val="100000"/>
              </a:srgbClr>
            </a:solidFill>
          </a:ln>
        </p:spPr>
      </p:sp>
      <p:sp>
        <p:nvSpPr>
          <p:cNvPr id="65" name="Text 65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theme11 · theme11_page052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高能增长风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SYSTEM AT A GLANCE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内置资源让每一页都有可选方案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PPT 将主题、版式和可调控件组合成可复用的页面系统。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1" name="Shape 71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6D3A1E">
                <a:alpha val="100000"/>
              </a:srgbClr>
            </a:solidFill>
          </a:ln>
        </p:spPr>
      </p:sp>
      <p:sp>
        <p:nvSpPr>
          <p:cNvPr id="72" name="Shape 72"/>
          <p:cNvSpPr/>
          <p:nvPr/>
        </p:nvSpPr>
        <p:spPr>
          <a:xfrm>
            <a:off x="685800" y="1783080"/>
            <a:ext cx="4892040" cy="1325880"/>
          </a:xfrm>
          <a:prstGeom prst="roundRect">
            <a:avLst/>
          </a:prstGeom>
          <a:solidFill>
            <a:srgbClr val="3A2114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73" name="Text 73"/>
          <p:cNvSpPr txBox="1"/>
          <p:nvPr/>
        </p:nvSpPr>
        <p:spPr>
          <a:xfrm>
            <a:off x="9601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F6B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F6B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24414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套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32004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25146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覆盖多种业务叙事场景</a:t>
            </a:r>
          </a:p>
        </p:txBody>
      </p:sp>
      <p:sp>
        <p:nvSpPr>
          <p:cNvPr id="77" name="Shape 77"/>
          <p:cNvSpPr/>
          <p:nvPr/>
        </p:nvSpPr>
        <p:spPr>
          <a:xfrm>
            <a:off x="6172200" y="1783080"/>
            <a:ext cx="4892040" cy="1325880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78" name="Text 78"/>
          <p:cNvSpPr txBox="1"/>
          <p:nvPr/>
        </p:nvSpPr>
        <p:spPr>
          <a:xfrm>
            <a:off x="64465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79" name="Text 79"/>
          <p:cNvSpPr txBox="1"/>
          <p:nvPr/>
        </p:nvSpPr>
        <p:spPr>
          <a:xfrm>
            <a:off x="79278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页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86868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80010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20 类页面角色</a:t>
            </a:r>
          </a:p>
        </p:txBody>
      </p:sp>
      <p:sp>
        <p:nvSpPr>
          <p:cNvPr id="82" name="Shape 82"/>
          <p:cNvSpPr/>
          <p:nvPr/>
        </p:nvSpPr>
        <p:spPr>
          <a:xfrm>
            <a:off x="685800" y="3566160"/>
            <a:ext cx="4892040" cy="1325880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83" name="Text 83"/>
          <p:cNvSpPr txBox="1"/>
          <p:nvPr/>
        </p:nvSpPr>
        <p:spPr>
          <a:xfrm>
            <a:off x="9601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24414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个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32004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控件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25146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支持布局、数量与配色调整</a:t>
            </a:r>
          </a:p>
        </p:txBody>
      </p:sp>
      <p:sp>
        <p:nvSpPr>
          <p:cNvPr id="87" name="Shape 87"/>
          <p:cNvSpPr/>
          <p:nvPr/>
        </p:nvSpPr>
        <p:spPr>
          <a:xfrm>
            <a:off x="6172200" y="3566160"/>
            <a:ext cx="4892040" cy="1325880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88" name="Text 88"/>
          <p:cNvSpPr txBox="1"/>
          <p:nvPr/>
        </p:nvSpPr>
        <p:spPr>
          <a:xfrm>
            <a:off x="64465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3 + 1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79278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种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868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候选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80010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三套模板加一套 Agent 定制方案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731520" y="5532120"/>
            <a:ext cx="107899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规模化制作的关键，是让选择和调整都可复用。</a:t>
            </a:r>
          </a:p>
        </p:txBody>
      </p:sp>
      <p:sp>
        <p:nvSpPr>
          <p:cNvPr id="100003" name="Slide number 3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7110B">
          <a:alpha val="100000"/>
        </a:srgbClr>
      </a:solidFill>
      <a:effectLst/>
    </p:bgPr>
  </p:bg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/>
        </p:nvSpPr>
        <p:spPr>
          <a:xfrm>
            <a:off x="8046720" y="18288"/>
            <a:ext cx="4023360" cy="1188720"/>
          </a:xfrm>
          <a:prstGeom prst="line">
            <a:avLst/>
          </a:prstGeom>
          <a:noFill/>
          <a:ln w="63500" cap="flat">
            <a:solidFill>
              <a:srgbClr val="FF6B3D">
                <a:alpha val="60000"/>
              </a:srgbClr>
            </a:solidFill>
          </a:ln>
        </p:spPr>
      </p:sp>
      <p:sp>
        <p:nvSpPr>
          <p:cNvPr id="94" name="Shape 94"/>
          <p:cNvSpPr/>
          <p:nvPr/>
        </p:nvSpPr>
        <p:spPr>
          <a:xfrm>
            <a:off x="8668512" y="18288"/>
            <a:ext cx="3401568" cy="1005840"/>
          </a:xfrm>
          <a:prstGeom prst="line">
            <a:avLst/>
          </a:prstGeom>
          <a:noFill/>
          <a:ln w="15240" cap="flat">
            <a:solidFill>
              <a:srgbClr val="FF8BCB">
                <a:alpha val="75000"/>
              </a:srgbClr>
            </a:solidFill>
          </a:ln>
        </p:spPr>
      </p:sp>
      <p:sp>
        <p:nvSpPr>
          <p:cNvPr id="95" name="Shape 95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7780" cap="flat">
            <a:solidFill>
              <a:srgbClr val="FF6B3D">
                <a:alpha val="100000"/>
              </a:srgbClr>
            </a:solidFill>
          </a:ln>
        </p:spPr>
      </p:sp>
      <p:sp>
        <p:nvSpPr>
          <p:cNvPr id="96" name="Text 96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theme11 · theme11_page044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高能增长风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从需求到交付，工作流只有五步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明确需求、组织内容、选择结构、渲染预览、导出交付。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2" name="Shape 102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6D3A1E">
                <a:alpha val="100000"/>
              </a:srgbClr>
            </a:solidFill>
          </a:ln>
        </p:spPr>
      </p:sp>
      <p:sp>
        <p:nvSpPr>
          <p:cNvPr id="103" name="Shape 103"/>
          <p:cNvSpPr/>
          <p:nvPr/>
        </p:nvSpPr>
        <p:spPr>
          <a:xfrm>
            <a:off x="960120" y="3017520"/>
            <a:ext cx="10149840" cy="1"/>
          </a:xfrm>
          <a:prstGeom prst="line">
            <a:avLst/>
          </a:prstGeom>
          <a:noFill/>
          <a:ln w="25400" cap="flat">
            <a:solidFill>
              <a:srgbClr val="6D3A1E">
                <a:alpha val="100000"/>
              </a:srgbClr>
            </a:solidFill>
          </a:ln>
        </p:spPr>
      </p:sp>
      <p:sp>
        <p:nvSpPr>
          <p:cNvPr id="104" name="Shape 104"/>
          <p:cNvSpPr/>
          <p:nvPr/>
        </p:nvSpPr>
        <p:spPr>
          <a:xfrm>
            <a:off x="941832" y="2788920"/>
            <a:ext cx="457200" cy="457200"/>
          </a:xfrm>
          <a:prstGeom prst="roundRect">
            <a:avLst/>
          </a:prstGeom>
          <a:solidFill>
            <a:srgbClr val="17110B">
              <a:alpha val="100000"/>
            </a:srgbClr>
          </a:solidFill>
          <a:ln w="1016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05" name="Text 105"/>
          <p:cNvSpPr txBox="1"/>
          <p:nvPr/>
        </p:nvSpPr>
        <p:spPr>
          <a:xfrm>
            <a:off x="94183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71323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01 需求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7607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主题、受众、页数、风格与格式</a:t>
            </a:r>
          </a:p>
        </p:txBody>
      </p:sp>
      <p:sp>
        <p:nvSpPr>
          <p:cNvPr id="108" name="Shape 108"/>
          <p:cNvSpPr/>
          <p:nvPr/>
        </p:nvSpPr>
        <p:spPr>
          <a:xfrm>
            <a:off x="3182112" y="2788920"/>
            <a:ext cx="457200" cy="457200"/>
          </a:xfrm>
          <a:prstGeom prst="roundRect">
            <a:avLst/>
          </a:prstGeom>
          <a:solidFill>
            <a:srgbClr val="17110B">
              <a:alpha val="100000"/>
            </a:srgbClr>
          </a:solidFill>
          <a:ln w="1016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09" name="Text 109"/>
          <p:cNvSpPr txBox="1"/>
          <p:nvPr/>
        </p:nvSpPr>
        <p:spPr>
          <a:xfrm>
            <a:off x="318211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295351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02 内容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281635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每页标题、结论、数字与事实源</a:t>
            </a:r>
          </a:p>
        </p:txBody>
      </p:sp>
      <p:sp>
        <p:nvSpPr>
          <p:cNvPr id="112" name="Shape 112"/>
          <p:cNvSpPr/>
          <p:nvPr/>
        </p:nvSpPr>
        <p:spPr>
          <a:xfrm>
            <a:off x="5422392" y="2788920"/>
            <a:ext cx="457200" cy="457200"/>
          </a:xfrm>
          <a:prstGeom prst="roundRect">
            <a:avLst/>
          </a:prstGeom>
          <a:solidFill>
            <a:srgbClr val="17110B">
              <a:alpha val="100000"/>
            </a:srgbClr>
          </a:solidFill>
          <a:ln w="1016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13" name="Text 113"/>
          <p:cNvSpPr txBox="1"/>
          <p:nvPr/>
        </p:nvSpPr>
        <p:spPr>
          <a:xfrm>
            <a:off x="542239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19379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03–05 交付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05663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结构选择、渲染校验与文件导出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把复杂制作拆成清晰步骤，团队更容易复用。</a:t>
            </a:r>
          </a:p>
        </p:txBody>
      </p:sp>
      <p:sp>
        <p:nvSpPr>
          <p:cNvPr id="100004" name="Slide number 4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7110B">
          <a:alpha val="100000"/>
        </a:srgbClr>
      </a:solidFill>
      <a:effectLst/>
    </p:bgPr>
  </p:bg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/>
        </p:nvSpPr>
        <p:spPr>
          <a:xfrm>
            <a:off x="8046720" y="18288"/>
            <a:ext cx="4023360" cy="1188720"/>
          </a:xfrm>
          <a:prstGeom prst="line">
            <a:avLst/>
          </a:prstGeom>
          <a:noFill/>
          <a:ln w="63500" cap="flat">
            <a:solidFill>
              <a:srgbClr val="FF6B3D">
                <a:alpha val="60000"/>
              </a:srgbClr>
            </a:solidFill>
          </a:ln>
        </p:spPr>
      </p:sp>
      <p:sp>
        <p:nvSpPr>
          <p:cNvPr id="118" name="Shape 118"/>
          <p:cNvSpPr/>
          <p:nvPr/>
        </p:nvSpPr>
        <p:spPr>
          <a:xfrm>
            <a:off x="8668512" y="18288"/>
            <a:ext cx="3401568" cy="1005840"/>
          </a:xfrm>
          <a:prstGeom prst="line">
            <a:avLst/>
          </a:prstGeom>
          <a:noFill/>
          <a:ln w="15240" cap="flat">
            <a:solidFill>
              <a:srgbClr val="FF8BCB">
                <a:alpha val="75000"/>
              </a:srgbClr>
            </a:solidFill>
          </a:ln>
        </p:spPr>
      </p:sp>
      <p:sp>
        <p:nvSpPr>
          <p:cNvPr id="119" name="Shape 119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778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20" name="Text 12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theme11 · theme11_page022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高能增长风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TEMPLATE PHILOSOPHY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模板是稳定的起点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保留系统，释放内容。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6" name="Shape 12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6D3A1E">
                <a:alpha val="100000"/>
              </a:srgbClr>
            </a:solidFill>
          </a:ln>
        </p:spPr>
      </p:sp>
      <p:sp>
        <p:nvSpPr>
          <p:cNvPr id="127" name="Shape 127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128" name="Shape 128"/>
          <p:cNvSpPr/>
          <p:nvPr/>
        </p:nvSpPr>
        <p:spPr>
          <a:xfrm>
            <a:off x="6309360" y="1783080"/>
            <a:ext cx="5212080" cy="3611880"/>
          </a:xfrm>
          <a:prstGeom prst="roundRect">
            <a:avLst/>
          </a:prstGeom>
          <a:solidFill>
            <a:srgbClr val="3A2114">
              <a:alpha val="100000"/>
            </a:srgbClr>
          </a:solidFill>
          <a:ln w="1016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29" name="Text 129"/>
          <p:cNvSpPr txBox="1"/>
          <p:nvPr/>
        </p:nvSpPr>
        <p:spPr>
          <a:xfrm>
            <a:off x="1005840" y="2084832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手工制作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6629400" y="2084832"/>
            <a:ext cx="25603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F6B3D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F6B3D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AGENT + MCP</a:t>
            </a:r>
          </a:p>
        </p:txBody>
      </p:sp>
      <p:sp>
        <p:nvSpPr>
          <p:cNvPr id="131" name="Shape 131"/>
          <p:cNvSpPr/>
          <p:nvPr/>
        </p:nvSpPr>
        <p:spPr>
          <a:xfrm>
            <a:off x="1005840" y="2761488"/>
            <a:ext cx="109728" cy="109728"/>
          </a:xfrm>
          <a:prstGeom prst="roundRect">
            <a:avLst/>
          </a:prstGeom>
          <a:solidFill>
            <a:srgbClr val="C3AFA0">
              <a:alpha val="100000"/>
            </a:srgbClr>
          </a:solidFill>
          <a:ln w="10160" cap="flat">
            <a:solidFill>
              <a:srgbClr val="C3AFA0">
                <a:alpha val="100000"/>
              </a:srgbClr>
            </a:solidFill>
          </a:ln>
        </p:spPr>
      </p:sp>
      <p:sp>
        <p:nvSpPr>
          <p:cNvPr id="132" name="Text 132"/>
          <p:cNvSpPr txBox="1"/>
          <p:nvPr/>
        </p:nvSpPr>
        <p:spPr>
          <a:xfrm>
            <a:off x="126187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126187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字体、色彩、间距和组件保持统一</a:t>
            </a:r>
          </a:p>
        </p:txBody>
      </p:sp>
      <p:sp>
        <p:nvSpPr>
          <p:cNvPr id="134" name="Shape 134"/>
          <p:cNvSpPr/>
          <p:nvPr/>
        </p:nvSpPr>
        <p:spPr>
          <a:xfrm>
            <a:off x="1005840" y="3785616"/>
            <a:ext cx="109728" cy="109728"/>
          </a:xfrm>
          <a:prstGeom prst="roundRect">
            <a:avLst/>
          </a:prstGeom>
          <a:solidFill>
            <a:srgbClr val="C3AFA0">
              <a:alpha val="100000"/>
            </a:srgbClr>
          </a:solidFill>
          <a:ln w="10160" cap="flat">
            <a:solidFill>
              <a:srgbClr val="C3AFA0">
                <a:alpha val="100000"/>
              </a:srgbClr>
            </a:solidFill>
          </a:ln>
        </p:spPr>
      </p:sp>
      <p:sp>
        <p:nvSpPr>
          <p:cNvPr id="135" name="Text 135"/>
          <p:cNvSpPr txBox="1"/>
          <p:nvPr/>
        </p:nvSpPr>
        <p:spPr>
          <a:xfrm>
            <a:off x="126187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快速迭代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126187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不满意时可换版式、换主题、再导出</a:t>
            </a:r>
          </a:p>
        </p:txBody>
      </p:sp>
      <p:sp>
        <p:nvSpPr>
          <p:cNvPr id="137" name="Shape 137"/>
          <p:cNvSpPr/>
          <p:nvPr/>
        </p:nvSpPr>
        <p:spPr>
          <a:xfrm>
            <a:off x="6629400" y="2761488"/>
            <a:ext cx="109728" cy="109728"/>
          </a:xfrm>
          <a:prstGeom prst="roundRect">
            <a:avLst/>
          </a:prstGeom>
          <a:solidFill>
            <a:srgbClr val="FF6B3D">
              <a:alpha val="100000"/>
            </a:srgbClr>
          </a:solidFill>
          <a:ln w="1016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38" name="Text 138"/>
          <p:cNvSpPr txBox="1"/>
          <p:nvPr/>
        </p:nvSpPr>
        <p:spPr>
          <a:xfrm>
            <a:off x="688543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聚焦内容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88543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只替换文案、数据和页面重点</a:t>
            </a:r>
          </a:p>
        </p:txBody>
      </p:sp>
      <p:sp>
        <p:nvSpPr>
          <p:cNvPr id="140" name="Shape 140"/>
          <p:cNvSpPr/>
          <p:nvPr/>
        </p:nvSpPr>
        <p:spPr>
          <a:xfrm>
            <a:off x="6629400" y="3785616"/>
            <a:ext cx="109728" cy="109728"/>
          </a:xfrm>
          <a:prstGeom prst="roundRect">
            <a:avLst/>
          </a:prstGeom>
          <a:solidFill>
            <a:srgbClr val="FF6B3D">
              <a:alpha val="100000"/>
            </a:srgbClr>
          </a:solidFill>
          <a:ln w="1016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41" name="Text 141"/>
          <p:cNvSpPr txBox="1"/>
          <p:nvPr/>
        </p:nvSpPr>
        <p:spPr>
          <a:xfrm>
            <a:off x="688543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源文件可交接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688543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稳定边界，换来快速迭代。</a:t>
            </a:r>
          </a:p>
        </p:txBody>
      </p:sp>
      <p:sp>
        <p:nvSpPr>
          <p:cNvPr id="100005" name="Slide number 5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7110B">
          <a:alpha val="100000"/>
        </a:srgbClr>
      </a:solidFill>
      <a:effectLst/>
    </p:bgPr>
  </p:bg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/>
        </p:nvSpPr>
        <p:spPr>
          <a:xfrm>
            <a:off x="8046720" y="18288"/>
            <a:ext cx="4023360" cy="1188720"/>
          </a:xfrm>
          <a:prstGeom prst="line">
            <a:avLst/>
          </a:prstGeom>
          <a:noFill/>
          <a:ln w="63500" cap="flat">
            <a:solidFill>
              <a:srgbClr val="FF6B3D">
                <a:alpha val="60000"/>
              </a:srgbClr>
            </a:solidFill>
          </a:ln>
        </p:spPr>
      </p:sp>
      <p:sp>
        <p:nvSpPr>
          <p:cNvPr id="145" name="Shape 145"/>
          <p:cNvSpPr/>
          <p:nvPr/>
        </p:nvSpPr>
        <p:spPr>
          <a:xfrm>
            <a:off x="8668512" y="18288"/>
            <a:ext cx="3401568" cy="1005840"/>
          </a:xfrm>
          <a:prstGeom prst="line">
            <a:avLst/>
          </a:prstGeom>
          <a:noFill/>
          <a:ln w="15240" cap="flat">
            <a:solidFill>
              <a:srgbClr val="FF8BCB">
                <a:alpha val="75000"/>
              </a:srgbClr>
            </a:solidFill>
          </a:ln>
        </p:spPr>
      </p:sp>
      <p:sp>
        <p:nvSpPr>
          <p:cNvPr id="146" name="Shape 146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778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47" name="Text 147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theme11 · theme11_page021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高能增长风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从内容到成品，自动化逐层增加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查询、渲染、预览和导出让重复性工作交给工具完成。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53" name="Shape 153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6D3A1E">
                <a:alpha val="100000"/>
              </a:srgbClr>
            </a:solidFill>
          </a:ln>
        </p:spPr>
      </p:sp>
      <p:sp>
        <p:nvSpPr>
          <p:cNvPr id="154" name="Text 154"/>
          <p:cNvSpPr txBox="1"/>
          <p:nvPr/>
        </p:nvSpPr>
        <p:spPr>
          <a:xfrm>
            <a:off x="749808" y="1673352"/>
            <a:ext cx="2926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 MATURITY</a:t>
            </a:r>
          </a:p>
        </p:txBody>
      </p:sp>
      <p:sp>
        <p:nvSpPr>
          <p:cNvPr id="155" name="Shape 155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12700" cap="flat">
            <a:solidFill>
              <a:srgbClr val="6D3A1E">
                <a:alpha val="100000"/>
              </a:srgbClr>
            </a:solidFill>
          </a:ln>
        </p:spPr>
      </p:sp>
      <p:sp>
        <p:nvSpPr>
          <p:cNvPr id="156" name="Shape 156"/>
          <p:cNvSpPr/>
          <p:nvPr/>
        </p:nvSpPr>
        <p:spPr>
          <a:xfrm>
            <a:off x="960120" y="2011680"/>
            <a:ext cx="1" cy="2788920"/>
          </a:xfrm>
          <a:prstGeom prst="line">
            <a:avLst/>
          </a:prstGeom>
          <a:noFill/>
          <a:ln w="12700" cap="flat">
            <a:solidFill>
              <a:srgbClr val="6D3A1E">
                <a:alpha val="100000"/>
              </a:srgbClr>
            </a:solidFill>
          </a:ln>
        </p:spPr>
      </p:sp>
      <p:sp>
        <p:nvSpPr>
          <p:cNvPr id="157" name="Shape 157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6350" cap="flat">
            <a:solidFill>
              <a:srgbClr val="6D3A1E">
                <a:alpha val="55000"/>
              </a:srgbClr>
            </a:solidFill>
          </a:ln>
        </p:spPr>
      </p:sp>
      <p:sp>
        <p:nvSpPr>
          <p:cNvPr id="158" name="Text 158"/>
          <p:cNvSpPr txBox="1"/>
          <p:nvPr/>
        </p:nvSpPr>
        <p:spPr>
          <a:xfrm>
            <a:off x="594360" y="472744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59" name="Shape 159"/>
          <p:cNvSpPr/>
          <p:nvPr/>
        </p:nvSpPr>
        <p:spPr>
          <a:xfrm>
            <a:off x="960120" y="4103370"/>
            <a:ext cx="6858000" cy="1"/>
          </a:xfrm>
          <a:prstGeom prst="line">
            <a:avLst/>
          </a:prstGeom>
          <a:noFill/>
          <a:ln w="6350" cap="flat">
            <a:solidFill>
              <a:srgbClr val="6D3A1E">
                <a:alpha val="55000"/>
              </a:srgbClr>
            </a:solidFill>
          </a:ln>
        </p:spPr>
      </p:sp>
      <p:sp>
        <p:nvSpPr>
          <p:cNvPr id="160" name="Text 160"/>
          <p:cNvSpPr txBox="1"/>
          <p:nvPr/>
        </p:nvSpPr>
        <p:spPr>
          <a:xfrm>
            <a:off x="594360" y="403021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61" name="Shape 161"/>
          <p:cNvSpPr/>
          <p:nvPr/>
        </p:nvSpPr>
        <p:spPr>
          <a:xfrm>
            <a:off x="960120" y="3406140"/>
            <a:ext cx="6858000" cy="1"/>
          </a:xfrm>
          <a:prstGeom prst="line">
            <a:avLst/>
          </a:prstGeom>
          <a:noFill/>
          <a:ln w="6350" cap="flat">
            <a:solidFill>
              <a:srgbClr val="6D3A1E">
                <a:alpha val="55000"/>
              </a:srgbClr>
            </a:solidFill>
          </a:ln>
        </p:spPr>
      </p:sp>
      <p:sp>
        <p:nvSpPr>
          <p:cNvPr id="162" name="Text 162"/>
          <p:cNvSpPr txBox="1"/>
          <p:nvPr/>
        </p:nvSpPr>
        <p:spPr>
          <a:xfrm>
            <a:off x="594360" y="333298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63" name="Shape 163"/>
          <p:cNvSpPr/>
          <p:nvPr/>
        </p:nvSpPr>
        <p:spPr>
          <a:xfrm>
            <a:off x="960120" y="2708910"/>
            <a:ext cx="6858000" cy="1"/>
          </a:xfrm>
          <a:prstGeom prst="line">
            <a:avLst/>
          </a:prstGeom>
          <a:noFill/>
          <a:ln w="6350" cap="flat">
            <a:solidFill>
              <a:srgbClr val="6D3A1E">
                <a:alpha val="55000"/>
              </a:srgbClr>
            </a:solidFill>
          </a:ln>
        </p:spPr>
      </p:sp>
      <p:sp>
        <p:nvSpPr>
          <p:cNvPr id="164" name="Text 164"/>
          <p:cNvSpPr txBox="1"/>
          <p:nvPr/>
        </p:nvSpPr>
        <p:spPr>
          <a:xfrm>
            <a:off x="594360" y="263575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165" name="Shape 165"/>
          <p:cNvSpPr/>
          <p:nvPr/>
        </p:nvSpPr>
        <p:spPr>
          <a:xfrm>
            <a:off x="960120" y="2011680"/>
            <a:ext cx="6858000" cy="1"/>
          </a:xfrm>
          <a:prstGeom prst="line">
            <a:avLst/>
          </a:prstGeom>
          <a:noFill/>
          <a:ln w="6350" cap="flat">
            <a:solidFill>
              <a:srgbClr val="6D3A1E">
                <a:alpha val="55000"/>
              </a:srgbClr>
            </a:solidFill>
          </a:ln>
        </p:spPr>
      </p:sp>
      <p:sp>
        <p:nvSpPr>
          <p:cNvPr id="166" name="Text 166"/>
          <p:cNvSpPr txBox="1"/>
          <p:nvPr/>
        </p:nvSpPr>
        <p:spPr>
          <a:xfrm>
            <a:off x="594360" y="193852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67" name="Shape 167"/>
          <p:cNvSpPr/>
          <p:nvPr/>
        </p:nvSpPr>
        <p:spPr>
          <a:xfrm>
            <a:off x="1335024" y="4021074"/>
            <a:ext cx="164592" cy="164592"/>
          </a:xfrm>
          <a:prstGeom prst="roundRect">
            <a:avLst/>
          </a:prstGeom>
          <a:solidFill>
            <a:srgbClr val="FF6B3D">
              <a:alpha val="100000"/>
            </a:srgbClr>
          </a:solidFill>
          <a:ln w="1016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68" name="Text 168"/>
          <p:cNvSpPr txBox="1"/>
          <p:nvPr/>
        </p:nvSpPr>
        <p:spPr>
          <a:xfrm>
            <a:off x="1097280" y="369189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91440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170" name="Shape 170"/>
          <p:cNvSpPr/>
          <p:nvPr/>
        </p:nvSpPr>
        <p:spPr>
          <a:xfrm flipV="1">
            <a:off x="1417320" y="3406140"/>
            <a:ext cx="1965960" cy="697230"/>
          </a:xfrm>
          <a:prstGeom prst="line">
            <a:avLst/>
          </a:prstGeom>
          <a:noFill/>
          <a:ln w="3175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71" name="Shape 171"/>
          <p:cNvSpPr/>
          <p:nvPr/>
        </p:nvSpPr>
        <p:spPr>
          <a:xfrm>
            <a:off x="3300984" y="3323844"/>
            <a:ext cx="164592" cy="164592"/>
          </a:xfrm>
          <a:prstGeom prst="roundRect">
            <a:avLst/>
          </a:prstGeom>
          <a:solidFill>
            <a:srgbClr val="FF6B3D">
              <a:alpha val="100000"/>
            </a:srgbClr>
          </a:solidFill>
          <a:ln w="1016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72" name="Text 172"/>
          <p:cNvSpPr txBox="1"/>
          <p:nvPr/>
        </p:nvSpPr>
        <p:spPr>
          <a:xfrm>
            <a:off x="3063240" y="299466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288036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</a:t>
            </a:r>
          </a:p>
        </p:txBody>
      </p:sp>
      <p:sp>
        <p:nvSpPr>
          <p:cNvPr id="174" name="Shape 174"/>
          <p:cNvSpPr/>
          <p:nvPr/>
        </p:nvSpPr>
        <p:spPr>
          <a:xfrm flipV="1">
            <a:off x="3383280" y="2708910"/>
            <a:ext cx="1965960" cy="697230"/>
          </a:xfrm>
          <a:prstGeom prst="line">
            <a:avLst/>
          </a:prstGeom>
          <a:noFill/>
          <a:ln w="3175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75" name="Shape 175"/>
          <p:cNvSpPr/>
          <p:nvPr/>
        </p:nvSpPr>
        <p:spPr>
          <a:xfrm>
            <a:off x="5266944" y="2626614"/>
            <a:ext cx="164592" cy="164592"/>
          </a:xfrm>
          <a:prstGeom prst="roundRect">
            <a:avLst/>
          </a:prstGeom>
          <a:solidFill>
            <a:srgbClr val="FF6B3D">
              <a:alpha val="100000"/>
            </a:srgbClr>
          </a:solidFill>
          <a:ln w="1016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76" name="Text 176"/>
          <p:cNvSpPr txBox="1"/>
          <p:nvPr/>
        </p:nvSpPr>
        <p:spPr>
          <a:xfrm>
            <a:off x="5029200" y="229743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484632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渲染</a:t>
            </a:r>
          </a:p>
        </p:txBody>
      </p:sp>
      <p:sp>
        <p:nvSpPr>
          <p:cNvPr id="178" name="Shape 178"/>
          <p:cNvSpPr/>
          <p:nvPr/>
        </p:nvSpPr>
        <p:spPr>
          <a:xfrm flipV="1">
            <a:off x="5349240" y="2011680"/>
            <a:ext cx="1965960" cy="697230"/>
          </a:xfrm>
          <a:prstGeom prst="line">
            <a:avLst/>
          </a:prstGeom>
          <a:noFill/>
          <a:ln w="3175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79" name="Shape 179"/>
          <p:cNvSpPr/>
          <p:nvPr/>
        </p:nvSpPr>
        <p:spPr>
          <a:xfrm>
            <a:off x="7232904" y="1929384"/>
            <a:ext cx="164592" cy="164592"/>
          </a:xfrm>
          <a:prstGeom prst="roundRect">
            <a:avLst/>
          </a:prstGeom>
          <a:solidFill>
            <a:srgbClr val="FF6B3D">
              <a:alpha val="100000"/>
            </a:srgbClr>
          </a:solidFill>
          <a:ln w="1016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80" name="Text 180"/>
          <p:cNvSpPr txBox="1"/>
          <p:nvPr/>
        </p:nvSpPr>
        <p:spPr>
          <a:xfrm>
            <a:off x="6995160" y="160020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81228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182" name="Shape 182"/>
          <p:cNvSpPr/>
          <p:nvPr/>
        </p:nvSpPr>
        <p:spPr>
          <a:xfrm>
            <a:off x="8366760" y="1938528"/>
            <a:ext cx="3063240" cy="3337560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183" name="Text 183"/>
          <p:cNvSpPr txBox="1"/>
          <p:nvPr/>
        </p:nvSpPr>
        <p:spPr>
          <a:xfrm>
            <a:off x="8686800" y="2304288"/>
            <a:ext cx="137160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FF4E9">
                    <a:alpha val="100000"/>
                  </a:srgbClr>
                </a:solidFill>
                <a:latin typeface="Aptos"/>
                <a:ea typeface="Aptos"/>
                <a:cs typeface="Aptos"/>
              </a:rPr>
              <a:t>关键判断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8686800" y="3063240"/>
            <a:ext cx="2331720" cy="10058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连接工具，Skill 约束方法，Agent 保留判断。</a:t>
            </a:r>
          </a:p>
        </p:txBody>
      </p:sp>
      <p:sp>
        <p:nvSpPr>
          <p:cNvPr id="100006" name="Slide number 6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7110B">
          <a:alpha val="100000"/>
        </a:srgbClr>
      </a:solidFill>
      <a:effectLst/>
    </p:bgPr>
  </p:bg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/>
          <p:nvPr/>
        </p:nvSpPr>
        <p:spPr>
          <a:xfrm>
            <a:off x="8046720" y="18288"/>
            <a:ext cx="4023360" cy="1188720"/>
          </a:xfrm>
          <a:prstGeom prst="line">
            <a:avLst/>
          </a:prstGeom>
          <a:noFill/>
          <a:ln w="63500" cap="flat">
            <a:solidFill>
              <a:srgbClr val="FF6B3D">
                <a:alpha val="60000"/>
              </a:srgbClr>
            </a:solidFill>
          </a:ln>
        </p:spPr>
      </p:sp>
      <p:sp>
        <p:nvSpPr>
          <p:cNvPr id="186" name="Shape 186"/>
          <p:cNvSpPr/>
          <p:nvPr/>
        </p:nvSpPr>
        <p:spPr>
          <a:xfrm>
            <a:off x="8668512" y="18288"/>
            <a:ext cx="3401568" cy="1005840"/>
          </a:xfrm>
          <a:prstGeom prst="line">
            <a:avLst/>
          </a:prstGeom>
          <a:noFill/>
          <a:ln w="15240" cap="flat">
            <a:solidFill>
              <a:srgbClr val="FF8BCB">
                <a:alpha val="75000"/>
              </a:srgbClr>
            </a:solidFill>
          </a:ln>
        </p:spPr>
      </p:sp>
      <p:sp>
        <p:nvSpPr>
          <p:cNvPr id="187" name="Shape 187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7780" cap="flat">
            <a:solidFill>
              <a:srgbClr val="FF6B3D">
                <a:alpha val="100000"/>
              </a:srgbClr>
            </a:solidFill>
          </a:ln>
        </p:spPr>
      </p:sp>
      <p:sp>
        <p:nvSpPr>
          <p:cNvPr id="188" name="Text 188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theme11 · theme11_page053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高能增长风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REPO MAP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一个仓库，完整链路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Skill、MCP 与 Runtime 协同工作。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94" name="Shape 194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6D3A1E">
                <a:alpha val="100000"/>
              </a:srgbClr>
            </a:solidFill>
          </a:ln>
        </p:spPr>
      </p:sp>
      <p:sp>
        <p:nvSpPr>
          <p:cNvPr id="195" name="Shape 195"/>
          <p:cNvSpPr/>
          <p:nvPr/>
        </p:nvSpPr>
        <p:spPr>
          <a:xfrm>
            <a:off x="777240" y="1719072"/>
            <a:ext cx="10652760" cy="841248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196" name="Text 196"/>
          <p:cNvSpPr txBox="1"/>
          <p:nvPr/>
        </p:nvSpPr>
        <p:spPr>
          <a:xfrm>
            <a:off x="1051560" y="1984248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8BCB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8BCB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1691640" y="1920240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FF4E9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FF4E9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.agents/skills/dashi-ppt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6080760" y="1975104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按需加载的主题与制作规则</a:t>
            </a:r>
          </a:p>
        </p:txBody>
      </p:sp>
      <p:sp>
        <p:nvSpPr>
          <p:cNvPr id="199" name="Shape 199"/>
          <p:cNvSpPr/>
          <p:nvPr/>
        </p:nvSpPr>
        <p:spPr>
          <a:xfrm>
            <a:off x="777240" y="2889504"/>
            <a:ext cx="10652760" cy="841248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200" name="Text 200"/>
          <p:cNvSpPr txBox="1"/>
          <p:nvPr/>
        </p:nvSpPr>
        <p:spPr>
          <a:xfrm>
            <a:off x="1051560" y="3154680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51D7C1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51D7C1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1691640" y="3090672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FF4E9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FF4E9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.agents/mcp_config.json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6080760" y="3145536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工作区级 MCP 注册文件</a:t>
            </a:r>
          </a:p>
        </p:txBody>
      </p:sp>
      <p:sp>
        <p:nvSpPr>
          <p:cNvPr id="203" name="Shape 203"/>
          <p:cNvSpPr/>
          <p:nvPr/>
        </p:nvSpPr>
        <p:spPr>
          <a:xfrm>
            <a:off x="777240" y="4059936"/>
            <a:ext cx="10652760" cy="841248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204" name="Text 204"/>
          <p:cNvSpPr txBox="1"/>
          <p:nvPr/>
        </p:nvSpPr>
        <p:spPr>
          <a:xfrm>
            <a:off x="1051560" y="4325112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1691640" y="4261104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FF4E9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FF4E9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mcp/server.mjs  +  skills/dashi-ppt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6080760" y="4315968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主题、版式与渲染运行时</a:t>
            </a:r>
          </a:p>
        </p:txBody>
      </p:sp>
      <p:sp>
        <p:nvSpPr>
          <p:cNvPr id="207" name="Text 207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源文件和成品一起归档，方便交接。</a:t>
            </a:r>
          </a:p>
        </p:txBody>
      </p:sp>
      <p:sp>
        <p:nvSpPr>
          <p:cNvPr id="100007" name="Slide number 7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17110B">
          <a:alpha val="100000"/>
        </a:srgbClr>
      </a:solidFill>
      <a:effectLst/>
    </p:bgPr>
  </p:bg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/>
        </p:nvSpPr>
        <p:spPr>
          <a:xfrm>
            <a:off x="8046720" y="18288"/>
            <a:ext cx="4023360" cy="1188720"/>
          </a:xfrm>
          <a:prstGeom prst="line">
            <a:avLst/>
          </a:prstGeom>
          <a:noFill/>
          <a:ln w="63500" cap="flat">
            <a:solidFill>
              <a:srgbClr val="FF6B3D">
                <a:alpha val="60000"/>
              </a:srgbClr>
            </a:solidFill>
          </a:ln>
        </p:spPr>
      </p:sp>
      <p:sp>
        <p:nvSpPr>
          <p:cNvPr id="209" name="Shape 209"/>
          <p:cNvSpPr/>
          <p:nvPr/>
        </p:nvSpPr>
        <p:spPr>
          <a:xfrm>
            <a:off x="8668512" y="18288"/>
            <a:ext cx="3401568" cy="1005840"/>
          </a:xfrm>
          <a:prstGeom prst="line">
            <a:avLst/>
          </a:prstGeom>
          <a:noFill/>
          <a:ln w="15240" cap="flat">
            <a:solidFill>
              <a:srgbClr val="FF8BCB">
                <a:alpha val="75000"/>
              </a:srgbClr>
            </a:solidFill>
          </a:ln>
        </p:spPr>
      </p:sp>
      <p:sp>
        <p:nvSpPr>
          <p:cNvPr id="210" name="Shape 210"/>
          <p:cNvSpPr/>
          <p:nvPr/>
        </p:nvSpPr>
        <p:spPr>
          <a:xfrm>
            <a:off x="658368" y="6327648"/>
            <a:ext cx="10817352" cy="1"/>
          </a:xfrm>
          <a:prstGeom prst="line">
            <a:avLst/>
          </a:prstGeom>
          <a:noFill/>
          <a:ln w="17780" cap="flat">
            <a:solidFill>
              <a:srgbClr val="FF6B3D">
                <a:alpha val="100000"/>
              </a:srgbClr>
            </a:solidFill>
          </a:ln>
        </p:spPr>
      </p:sp>
      <p:sp>
        <p:nvSpPr>
          <p:cNvPr id="211" name="Text 211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theme11 · theme11_page069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高能增长风</a:t>
            </a:r>
          </a:p>
        </p:txBody>
      </p:sp>
      <p:sp>
        <p:nvSpPr>
          <p:cNvPr id="213" name="Text 213"/>
          <p:cNvSpPr txBox="1"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214" name="Text 214"/>
          <p:cNvSpPr txBox="1"/>
          <p:nvPr/>
        </p:nvSpPr>
        <p:spPr>
          <a:xfrm>
            <a:off x="685800" y="1353312"/>
            <a:ext cx="8046720" cy="9601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FFF4E9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下一步</a:t>
            </a:r>
          </a:p>
        </p:txBody>
      </p:sp>
      <p:sp>
        <p:nvSpPr>
          <p:cNvPr id="215" name="Text 215"/>
          <p:cNvSpPr txBox="1"/>
          <p:nvPr/>
        </p:nvSpPr>
        <p:spPr>
          <a:xfrm>
            <a:off x="713232" y="2633472"/>
            <a:ext cx="58521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个主题 · 一套工作流</a:t>
            </a:r>
          </a:p>
        </p:txBody>
      </p:sp>
      <p:sp>
        <p:nvSpPr>
          <p:cNvPr id="216" name="Shape 216"/>
          <p:cNvSpPr/>
          <p:nvPr/>
        </p:nvSpPr>
        <p:spPr>
          <a:xfrm>
            <a:off x="713232" y="3886200"/>
            <a:ext cx="7726680" cy="914400"/>
          </a:xfrm>
          <a:prstGeom prst="roundRect">
            <a:avLst/>
          </a:prstGeom>
          <a:solidFill>
            <a:srgbClr val="281A11">
              <a:alpha val="100000"/>
            </a:srgbClr>
          </a:solidFill>
          <a:ln w="10160" cap="flat">
            <a:solidFill>
              <a:srgbClr val="6D3A1E">
                <a:alpha val="100000"/>
              </a:srgbClr>
            </a:solidFill>
          </a:ln>
        </p:spPr>
      </p:sp>
      <p:sp>
        <p:nvSpPr>
          <p:cNvPr id="217" name="Text 217"/>
          <p:cNvSpPr txBox="1"/>
          <p:nvPr/>
        </p:nvSpPr>
        <p:spPr>
          <a:xfrm>
            <a:off x="987552" y="412394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200">
                <a:solidFill>
                  <a:srgbClr val="51D7C1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200">
                <a:solidFill>
                  <a:srgbClr val="51D7C1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git clone -b arena/01a038e7-dashi-ppt-skill</a:t>
            </a:r>
          </a:p>
        </p:txBody>
      </p:sp>
      <p:sp>
        <p:nvSpPr>
          <p:cNvPr id="218" name="Text 218"/>
          <p:cNvSpPr txBox="1"/>
          <p:nvPr/>
        </p:nvSpPr>
        <p:spPr>
          <a:xfrm>
            <a:off x="987552" y="444398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000">
                <a:solidFill>
                  <a:srgbClr val="C3AFA0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https://github.com/mqgg5630-cyber/dashi-ppt-skill.git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731520" y="5687568"/>
            <a:ext cx="76809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6B3D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8503920" y="4709160"/>
            <a:ext cx="260604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200" b="1">
                <a:solidFill>
                  <a:srgbClr val="FF8BCB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200" b="1">
                <a:solidFill>
                  <a:srgbClr val="FF8BCB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 /  SKILL  /  PPTX</a:t>
            </a:r>
          </a:p>
        </p:txBody>
      </p:sp>
      <p:sp>
        <p:nvSpPr>
          <p:cNvPr id="100008" name="Slide number 8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C3AFA0">
                    <a:alpha val="100000"/>
                  </a:srgbClr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i PPT Native Theme">
  <a:themeElements>
    <a:clrScheme name="Dashi">
      <a:dk1>
        <a:sysClr val="windowText" lastClr="000000"/>
      </a:dk1>
      <a:lt1>
        <a:sysClr val="window" lastClr="FFFFFF"/>
      </a:lt1>
      <a:dk2>
        <a:srgbClr val="1F1F1F"/>
      </a:dk2>
      <a:lt2>
        <a:srgbClr val="F7F7F7"/>
      </a:lt2>
      <a:accent1>
        <a:srgbClr val="5B8DEF"/>
      </a:accent1>
      <a:accent2>
        <a:srgbClr val="46B083"/>
      </a:accent2>
      <a:accent3>
        <a:srgbClr val="7A5AE0"/>
      </a:accent3>
      <a:accent4>
        <a:srgbClr val="E0A23A"/>
      </a:accent4>
      <a:accent5>
        <a:srgbClr val="E95078"/>
      </a:accent5>
      <a:accent6>
        <a:srgbClr val="3BB6EC"/>
      </a:accent6>
      <a:hlink>
        <a:srgbClr val="0563C1"/>
      </a:hlink>
      <a:folHlink>
        <a:srgbClr val="954F72"/>
      </a:folHlink>
    </a:clrScheme>
    <a:fontScheme name="Dashi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Dashi">
      <a:fillStyleLst>
        <a:solidFill>
          <a:srgbClr val="FFFFFF"/>
        </a:solidFill>
      </a:fillStyleLst>
      <a:lnStyleLst>
        <a:ln w="9525">
          <a:solidFill>
            <a:srgbClr val="000000"/>
          </a:solidFill>
        </a:ln>
      </a:lnStyleLst>
      <a:effectStyleLst/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Dashi PPT 主题示例｜theme11</dc:title>
  <dc:subject>展示 theme11 主题下的 Dashi PPT 内容组织、版式选择与可编辑交付</dc:subject>
  <dc:creator>Dashi PPT</dc:creator>
  <cp:lastModifiedBy>Dashi PPT</cp:lastModifiedBy>
  <dcterms:created xsi:type="dcterms:W3CDTF">2026-08-27T12:10:55.075Z</dcterms:created>
  <dcterms:modified xsi:type="dcterms:W3CDTF">2026-08-27T12:10:55.075Z</dcterms:modified>
</cp:coreProperties>
</file>