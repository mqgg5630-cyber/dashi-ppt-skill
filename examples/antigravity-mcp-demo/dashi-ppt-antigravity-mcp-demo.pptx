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SHI_DARK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AC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AC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7CF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DASHI PPT  /  ANTIGRAVITY EDITION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6446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Dashi PPT × Antigravity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94944" y="263347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从用户需求到可编辑演示文稿的本地 MCP 工作流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94944" y="367588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F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让 Antigravity 直接调用可编辑的 PPT 生成能力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0" y="8412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STACK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479792" y="1325880"/>
            <a:ext cx="3886200" cy="786384"/>
          </a:xfrm>
          <a:prstGeom prst="roundRect">
            <a:avLst>
              <a:gd name="adj" fmla="val 116279"/>
            </a:avLst>
          </a:prstGeom>
          <a:solidFill>
            <a:srgbClr val="111A2E"/>
          </a:solidFill>
          <a:ln w="10160">
            <a:solidFill>
              <a:srgbClr val="2638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99248" y="14996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A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74736" y="14721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Skill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74736" y="17830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方法与质量边界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418320" y="2130552"/>
            <a:ext cx="0" cy="292608"/>
          </a:xfrm>
          <a:prstGeom prst="line">
            <a:avLst/>
          </a:prstGeom>
          <a:noFill/>
          <a:ln w="17780">
            <a:solidFill>
              <a:srgbClr val="C0A8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479792" y="2468880"/>
            <a:ext cx="3886200" cy="786384"/>
          </a:xfrm>
          <a:prstGeom prst="roundRect">
            <a:avLst>
              <a:gd name="adj" fmla="val 116279"/>
            </a:avLst>
          </a:prstGeom>
          <a:solidFill>
            <a:srgbClr val="111A2E"/>
          </a:solidFill>
          <a:ln w="10160">
            <a:solidFill>
              <a:srgbClr val="2638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99248" y="26426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E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174736" y="26151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74736" y="29260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工具连接与执行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418320" y="3273552"/>
            <a:ext cx="0" cy="292608"/>
          </a:xfrm>
          <a:prstGeom prst="line">
            <a:avLst/>
          </a:prstGeom>
          <a:noFill/>
          <a:ln w="17780">
            <a:solidFill>
              <a:srgbClr val="7EC8F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79792" y="3611880"/>
            <a:ext cx="3886200" cy="786384"/>
          </a:xfrm>
          <a:prstGeom prst="roundRect">
            <a:avLst>
              <a:gd name="adj" fmla="val 116279"/>
            </a:avLst>
          </a:prstGeom>
          <a:solidFill>
            <a:srgbClr val="111A2E"/>
          </a:solidFill>
          <a:ln w="10160">
            <a:solidFill>
              <a:srgbClr val="2638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99248" y="37856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F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174736" y="37581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Dashi Runtime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74736" y="40690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/ PPTX 产物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4944" y="583387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4944" y="619963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视觉主题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23744" y="583387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1,020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523744" y="619963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版式页面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52544" y="583387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8,576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352544" y="619963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可调控件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98480" y="619963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AC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7CF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把 PPT 生产变成可调用的工作流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 负责方法与质量边界，MCP 负责把版式、渲染和导出变成工具。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719072"/>
            <a:ext cx="10735056" cy="0"/>
          </a:xfrm>
          <a:prstGeom prst="line">
            <a:avLst/>
          </a:prstGeom>
          <a:noFill/>
          <a:ln w="8890">
            <a:solidFill>
              <a:srgbClr val="2638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74520"/>
            <a:ext cx="3401568" cy="2834640"/>
          </a:xfrm>
          <a:prstGeom prst="roundRect">
            <a:avLst>
              <a:gd name="adj" fmla="val 32258"/>
            </a:avLst>
          </a:prstGeom>
          <a:solidFill>
            <a:srgbClr val="111A2E"/>
          </a:solidFill>
          <a:ln w="10160">
            <a:solidFill>
              <a:srgbClr val="2638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12140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A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62072" y="21396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C0A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41832" y="2651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Skill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41832" y="34290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告诉 Agent 什么时候用、先做什么、如何验收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41832" y="4315968"/>
            <a:ext cx="2743200" cy="0"/>
          </a:xfrm>
          <a:prstGeom prst="line">
            <a:avLst/>
          </a:prstGeom>
          <a:noFill/>
          <a:ln w="25400">
            <a:solidFill>
              <a:srgbClr val="C0A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07992" y="1874520"/>
            <a:ext cx="3401568" cy="2834640"/>
          </a:xfrm>
          <a:prstGeom prst="roundRect">
            <a:avLst>
              <a:gd name="adj" fmla="val 32258"/>
            </a:avLst>
          </a:prstGeom>
          <a:solidFill>
            <a:srgbClr val="111A2E"/>
          </a:solidFill>
          <a:ln w="10160">
            <a:solidFill>
              <a:srgbClr val="2638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4024" y="212140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E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84264" y="21396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7E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64024" y="2651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64024" y="34290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暴露 scaffold、query、render、export 等安全工具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64024" y="4315968"/>
            <a:ext cx="2743200" cy="0"/>
          </a:xfrm>
          <a:prstGeom prst="line">
            <a:avLst/>
          </a:prstGeom>
          <a:noFill/>
          <a:ln w="25400">
            <a:solidFill>
              <a:srgbClr val="7EC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30184" y="1874520"/>
            <a:ext cx="3401568" cy="2834640"/>
          </a:xfrm>
          <a:prstGeom prst="roundRect">
            <a:avLst>
              <a:gd name="adj" fmla="val 32258"/>
            </a:avLst>
          </a:prstGeom>
          <a:solidFill>
            <a:srgbClr val="111A2E"/>
          </a:solidFill>
          <a:ln w="10160">
            <a:solidFill>
              <a:srgbClr val="2638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86216" y="212140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F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06456" y="21396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7CF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86216" y="2651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产物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586216" y="34290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是编辑器，PPTX 是可继续修改的文件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86216" y="4315968"/>
            <a:ext cx="2743200" cy="0"/>
          </a:xfrm>
          <a:prstGeom prst="line">
            <a:avLst/>
          </a:prstGeom>
          <a:noFill/>
          <a:ln w="25400">
            <a:solidFill>
              <a:srgbClr val="7CFF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23036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F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从一次性生成，升级为可复用、可验证、可继续编辑的生产链路。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AC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7CF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一套能力，覆盖从构思到交付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内置资源让 Agent 先选结构，再填内容，最后统一验收。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719072"/>
            <a:ext cx="10735056" cy="0"/>
          </a:xfrm>
          <a:prstGeom prst="line">
            <a:avLst/>
          </a:prstGeom>
          <a:noFill/>
          <a:ln w="8890">
            <a:solidFill>
              <a:srgbClr val="2638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83080"/>
            <a:ext cx="4892040" cy="1325880"/>
          </a:xfrm>
          <a:prstGeom prst="roundRect">
            <a:avLst>
              <a:gd name="adj" fmla="val 68966"/>
            </a:avLst>
          </a:prstGeom>
          <a:solidFill>
            <a:srgbClr val="14283A"/>
          </a:solidFill>
          <a:ln w="10160">
            <a:solidFill>
              <a:srgbClr val="2638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011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7CFF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2441448" y="22219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套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视觉主题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14600" y="25328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按场景切换整套设计语言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72200" y="1783080"/>
            <a:ext cx="4892040" cy="1325880"/>
          </a:xfrm>
          <a:prstGeom prst="roundRect">
            <a:avLst>
              <a:gd name="adj" fmla="val 68966"/>
            </a:avLst>
          </a:prstGeom>
          <a:solidFill>
            <a:srgbClr val="111A2E"/>
          </a:solidFill>
          <a:ln w="10160">
            <a:solidFill>
              <a:srgbClr val="2638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011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1,020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7927848" y="22219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页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版式页面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01000" y="25328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覆盖 20 类页面角色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3566160"/>
            <a:ext cx="4892040" cy="1325880"/>
          </a:xfrm>
          <a:prstGeom prst="roundRect">
            <a:avLst>
              <a:gd name="adj" fmla="val 68966"/>
            </a:avLst>
          </a:prstGeom>
          <a:solidFill>
            <a:srgbClr val="111A2E"/>
          </a:solidFill>
          <a:ln w="10160">
            <a:solidFill>
              <a:srgbClr val="2638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794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8,576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2441448" y="40050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个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0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可调控件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514600" y="43159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页面内继续调整模块与视觉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72200" y="3566160"/>
            <a:ext cx="4892040" cy="1325880"/>
          </a:xfrm>
          <a:prstGeom prst="roundRect">
            <a:avLst>
              <a:gd name="adj" fmla="val 68966"/>
            </a:avLst>
          </a:prstGeom>
          <a:solidFill>
            <a:srgbClr val="111A2E"/>
          </a:solidFill>
          <a:ln w="10160">
            <a:solidFill>
              <a:srgbClr val="2638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794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+ 1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7927848" y="40050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种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0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候选方案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001000" y="43159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三套模板加一套 Agent 定制方案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55321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F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规模化的关键不是更多模板，而是让选择和校验可重复。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AC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7CF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五步完成一份可编辑 PPT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把需求、内容、结构、渲染和交付拆成清晰的阶段。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719072"/>
            <a:ext cx="10735056" cy="0"/>
          </a:xfrm>
          <a:prstGeom prst="line">
            <a:avLst/>
          </a:prstGeom>
          <a:noFill/>
          <a:ln w="8890">
            <a:solidFill>
              <a:srgbClr val="2638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3017520"/>
            <a:ext cx="10149840" cy="0"/>
          </a:xfrm>
          <a:prstGeom prst="line">
            <a:avLst/>
          </a:prstGeom>
          <a:noFill/>
          <a:ln w="25400">
            <a:solidFill>
              <a:srgbClr val="2638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2788920"/>
            <a:ext cx="457200" cy="457200"/>
          </a:xfrm>
          <a:prstGeom prst="roundRect">
            <a:avLst>
              <a:gd name="adj" fmla="val 400000"/>
            </a:avLst>
          </a:prstGeom>
          <a:solidFill>
            <a:srgbClr val="0B1020"/>
          </a:solidFill>
          <a:ln w="10160">
            <a:solidFill>
              <a:srgbClr val="7CFF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9260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F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36758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需求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072" y="413308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明确主题、受众、页数、风格与交付格式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82112" y="2788920"/>
            <a:ext cx="457200" cy="457200"/>
          </a:xfrm>
          <a:prstGeom prst="roundRect">
            <a:avLst>
              <a:gd name="adj" fmla="val 400000"/>
            </a:avLst>
          </a:prstGeom>
          <a:solidFill>
            <a:srgbClr val="0B1020"/>
          </a:solidFill>
          <a:ln w="10160">
            <a:solidFill>
              <a:srgbClr val="7CFF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82112" y="29260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F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53512" y="36758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内容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16352" y="413308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冻结每页事实源、标题、结论与关键数字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22392" y="2788920"/>
            <a:ext cx="457200" cy="457200"/>
          </a:xfrm>
          <a:prstGeom prst="roundRect">
            <a:avLst>
              <a:gd name="adj" fmla="val 400000"/>
            </a:avLst>
          </a:prstGeom>
          <a:solidFill>
            <a:srgbClr val="0B1020"/>
          </a:solidFill>
          <a:ln w="10160">
            <a:solidFill>
              <a:srgbClr val="7CFF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22392" y="29260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F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93792" y="36758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结构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56632" y="413308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查询容量，选择不重复的版式组合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5577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F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每一步都有明确输入与验证点，减少反复试错。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AC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7CF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传统手工制作 vs. Agent 工作流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两种方式都能完成演示，但复用、验证和修改成本不同。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719072"/>
            <a:ext cx="10735056" cy="0"/>
          </a:xfrm>
          <a:prstGeom prst="line">
            <a:avLst/>
          </a:prstGeom>
          <a:noFill/>
          <a:ln w="8890">
            <a:solidFill>
              <a:srgbClr val="2638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83080"/>
            <a:ext cx="5212080" cy="3611880"/>
          </a:xfrm>
          <a:prstGeom prst="roundRect">
            <a:avLst>
              <a:gd name="adj" fmla="val 25316"/>
            </a:avLst>
          </a:prstGeom>
          <a:solidFill>
            <a:srgbClr val="111A2E"/>
          </a:solidFill>
          <a:ln w="10160">
            <a:solidFill>
              <a:srgbClr val="2638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1783080"/>
            <a:ext cx="5212080" cy="3611880"/>
          </a:xfrm>
          <a:prstGeom prst="roundRect">
            <a:avLst>
              <a:gd name="adj" fmla="val 25316"/>
            </a:avLst>
          </a:prstGeom>
          <a:solidFill>
            <a:srgbClr val="14283A"/>
          </a:solidFill>
          <a:ln w="10160">
            <a:solidFill>
              <a:srgbClr val="7CFF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848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手工制作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29400" y="20848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CFF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+ MCP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05840" y="2761488"/>
            <a:ext cx="109728" cy="109728"/>
          </a:xfrm>
          <a:prstGeom prst="roundRect">
            <a:avLst>
              <a:gd name="adj" fmla="val 1666667"/>
            </a:avLst>
          </a:prstGeom>
          <a:solidFill>
            <a:srgbClr val="9AAAC1"/>
          </a:solidFill>
          <a:ln w="10160">
            <a:solidFill>
              <a:srgbClr val="9AAA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1872" y="27249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手工制作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61872" y="30723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依赖个人经验，结构和视觉难以复用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05840" y="3785616"/>
            <a:ext cx="109728" cy="109728"/>
          </a:xfrm>
          <a:prstGeom prst="roundRect">
            <a:avLst>
              <a:gd name="adj" fmla="val 1666667"/>
            </a:avLst>
          </a:prstGeom>
          <a:solidFill>
            <a:srgbClr val="9AAAC1"/>
          </a:solidFill>
          <a:ln w="10160">
            <a:solidFill>
              <a:srgbClr val="9AAA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1872" y="3749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质量控制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61872" y="409651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从最后人工检查前移到生成过程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29400" y="2761488"/>
            <a:ext cx="109728" cy="109728"/>
          </a:xfrm>
          <a:prstGeom prst="roundRect">
            <a:avLst>
              <a:gd name="adj" fmla="val 1666667"/>
            </a:avLst>
          </a:prstGeom>
          <a:solidFill>
            <a:srgbClr val="7CFFB2"/>
          </a:solidFill>
          <a:ln w="10160">
            <a:solidFill>
              <a:srgbClr val="7CFF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85432" y="27249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+ MCP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85432" y="30723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工具化调用，过程可追踪，产物可再编辑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29400" y="3785616"/>
            <a:ext cx="109728" cy="109728"/>
          </a:xfrm>
          <a:prstGeom prst="roundRect">
            <a:avLst>
              <a:gd name="adj" fmla="val 1666667"/>
            </a:avLst>
          </a:prstGeom>
          <a:solidFill>
            <a:srgbClr val="7CFFB2"/>
          </a:solidFill>
          <a:ln w="10160">
            <a:solidFill>
              <a:srgbClr val="7CFF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85432" y="3749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源文件可交接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85432" y="409651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57150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F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把版式与规则沉淀下来，团队才能持续复用而不是重复劳动。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AC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7CF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MATURITY CURVE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自动化程度随着工具链完整度提升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从只会写文案，到能够选版式、渲染、预览和导出，能力逐层叠加。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719072"/>
            <a:ext cx="10735056" cy="0"/>
          </a:xfrm>
          <a:prstGeom prst="line">
            <a:avLst/>
          </a:prstGeom>
          <a:noFill/>
          <a:ln w="8890">
            <a:solidFill>
              <a:srgbClr val="2638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733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MATURITY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60120" y="4800600"/>
            <a:ext cx="6858000" cy="0"/>
          </a:xfrm>
          <a:prstGeom prst="line">
            <a:avLst/>
          </a:prstGeom>
          <a:noFill/>
          <a:ln w="12700">
            <a:solidFill>
              <a:srgbClr val="2638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011680"/>
            <a:ext cx="0" cy="2788920"/>
          </a:xfrm>
          <a:prstGeom prst="line">
            <a:avLst/>
          </a:prstGeom>
          <a:noFill/>
          <a:ln w="12700">
            <a:solidFill>
              <a:srgbClr val="2638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4800600"/>
            <a:ext cx="6858000" cy="0"/>
          </a:xfrm>
          <a:prstGeom prst="line">
            <a:avLst/>
          </a:prstGeom>
          <a:noFill/>
          <a:ln w="6350">
            <a:solidFill>
              <a:srgbClr val="263854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72744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60120" y="4103370"/>
            <a:ext cx="6858000" cy="0"/>
          </a:xfrm>
          <a:prstGeom prst="line">
            <a:avLst/>
          </a:prstGeom>
          <a:noFill/>
          <a:ln w="6350">
            <a:solidFill>
              <a:srgbClr val="263854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03021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60120" y="3406140"/>
            <a:ext cx="6858000" cy="0"/>
          </a:xfrm>
          <a:prstGeom prst="line">
            <a:avLst/>
          </a:prstGeom>
          <a:noFill/>
          <a:ln w="6350">
            <a:solidFill>
              <a:srgbClr val="263854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3298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60120" y="2708910"/>
            <a:ext cx="6858000" cy="0"/>
          </a:xfrm>
          <a:prstGeom prst="line">
            <a:avLst/>
          </a:prstGeom>
          <a:noFill/>
          <a:ln w="6350">
            <a:solidFill>
              <a:srgbClr val="263854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3575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60120" y="2011680"/>
            <a:ext cx="6858000" cy="0"/>
          </a:xfrm>
          <a:prstGeom prst="line">
            <a:avLst/>
          </a:prstGeom>
          <a:noFill/>
          <a:ln w="6350">
            <a:solidFill>
              <a:srgbClr val="263854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19385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335024" y="4021074"/>
            <a:ext cx="164592" cy="164592"/>
          </a:xfrm>
          <a:prstGeom prst="roundRect">
            <a:avLst>
              <a:gd name="adj" fmla="val 1111111"/>
            </a:avLst>
          </a:prstGeom>
          <a:solidFill>
            <a:srgbClr val="7CFFB2"/>
          </a:solidFill>
          <a:ln w="10160">
            <a:solidFill>
              <a:srgbClr val="7CFF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69189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50474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文案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417320" y="4103370"/>
            <a:ext cx="1965960" cy="-697230"/>
          </a:xfrm>
          <a:prstGeom prst="line">
            <a:avLst/>
          </a:prstGeom>
          <a:noFill/>
          <a:ln w="31750">
            <a:solidFill>
              <a:srgbClr val="7CFF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00984" y="3323844"/>
            <a:ext cx="164592" cy="164592"/>
          </a:xfrm>
          <a:prstGeom prst="roundRect">
            <a:avLst>
              <a:gd name="adj" fmla="val 1111111"/>
            </a:avLst>
          </a:prstGeom>
          <a:solidFill>
            <a:srgbClr val="7CFFB2"/>
          </a:solidFill>
          <a:ln w="10160">
            <a:solidFill>
              <a:srgbClr val="7CFF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0" y="29946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80360" y="50474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版式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83280" y="3406140"/>
            <a:ext cx="1965960" cy="-697230"/>
          </a:xfrm>
          <a:prstGeom prst="line">
            <a:avLst/>
          </a:prstGeom>
          <a:noFill/>
          <a:ln w="31750">
            <a:solidFill>
              <a:srgbClr val="7CFF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66944" y="2626614"/>
            <a:ext cx="164592" cy="164592"/>
          </a:xfrm>
          <a:prstGeom prst="roundRect">
            <a:avLst>
              <a:gd name="adj" fmla="val 1111111"/>
            </a:avLst>
          </a:prstGeom>
          <a:solidFill>
            <a:srgbClr val="7CFFB2"/>
          </a:solidFill>
          <a:ln w="10160">
            <a:solidFill>
              <a:srgbClr val="7CFF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229743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50474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渲染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49240" y="2708910"/>
            <a:ext cx="1965960" cy="-697230"/>
          </a:xfrm>
          <a:prstGeom prst="line">
            <a:avLst/>
          </a:prstGeom>
          <a:noFill/>
          <a:ln w="31750">
            <a:solidFill>
              <a:srgbClr val="7CFFB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32904" y="1929384"/>
            <a:ext cx="164592" cy="164592"/>
          </a:xfrm>
          <a:prstGeom prst="roundRect">
            <a:avLst>
              <a:gd name="adj" fmla="val 1111111"/>
            </a:avLst>
          </a:prstGeom>
          <a:solidFill>
            <a:srgbClr val="7CFFB2"/>
          </a:solidFill>
          <a:ln w="10160">
            <a:solidFill>
              <a:srgbClr val="7CFF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16002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12280" y="50474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交付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366760" y="1938528"/>
            <a:ext cx="3063240" cy="3337560"/>
          </a:xfrm>
          <a:prstGeom prst="roundRect">
            <a:avLst>
              <a:gd name="adj" fmla="val 29851"/>
            </a:avLst>
          </a:prstGeom>
          <a:solidFill>
            <a:srgbClr val="111A2E"/>
          </a:solidFill>
          <a:ln w="10160">
            <a:solidFill>
              <a:srgbClr val="26385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0" y="2304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关键判断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86800" y="30632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F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不是替代设计判断，而是把确定性的执行交给工具。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AC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7CF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ANATOMY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一个仓库同时承载 Skill、MCP 与运行时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Antigravity 读取工作方法，MCP 调用执行工具，Dashi Runtime 负责最终产物。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719072"/>
            <a:ext cx="10735056" cy="0"/>
          </a:xfrm>
          <a:prstGeom prst="line">
            <a:avLst/>
          </a:prstGeom>
          <a:noFill/>
          <a:ln w="8890">
            <a:solidFill>
              <a:srgbClr val="2638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19072"/>
            <a:ext cx="10652760" cy="841248"/>
          </a:xfrm>
          <a:prstGeom prst="roundRect">
            <a:avLst>
              <a:gd name="adj" fmla="val 108696"/>
            </a:avLst>
          </a:prstGeom>
          <a:solidFill>
            <a:srgbClr val="111A2E"/>
          </a:solidFill>
          <a:ln w="10160">
            <a:solidFill>
              <a:srgbClr val="2638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9842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A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91640" y="19202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.agents/skills/dashi-ppt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80760" y="19751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项目级技能说明，按需加载工作流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2889504"/>
            <a:ext cx="10652760" cy="841248"/>
          </a:xfrm>
          <a:prstGeom prst="roundRect">
            <a:avLst>
              <a:gd name="adj" fmla="val 108696"/>
            </a:avLst>
          </a:prstGeom>
          <a:solidFill>
            <a:srgbClr val="111A2E"/>
          </a:solidFill>
          <a:ln w="10160">
            <a:solidFill>
              <a:srgbClr val="2638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1546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E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91640" y="309067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.agents/mcp_config.json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80760" y="314553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工作区级 MCP 注册，直接启动本地 Server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4059936"/>
            <a:ext cx="10652760" cy="841248"/>
          </a:xfrm>
          <a:prstGeom prst="roundRect">
            <a:avLst>
              <a:gd name="adj" fmla="val 108696"/>
            </a:avLst>
          </a:prstGeom>
          <a:solidFill>
            <a:srgbClr val="111A2E"/>
          </a:solidFill>
          <a:ln w="10160">
            <a:solidFill>
              <a:srgbClr val="2638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3251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F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91640" y="426110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mcp/server.mjs  +  skills/dashi-ppt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80760" y="431596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通过 stdio 暴露版式、渲染与导出工具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56692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F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代码、规则和交付文件在同一仓库内闭环，降低部署门槛。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AC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7CF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GATES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把风险挡在交付之前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可编辑并不等于可交付，内容、素材、浏览器和路径都需要检查。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719072"/>
            <a:ext cx="10735056" cy="0"/>
          </a:xfrm>
          <a:prstGeom prst="line">
            <a:avLst/>
          </a:prstGeom>
          <a:noFill/>
          <a:ln w="8890">
            <a:solidFill>
              <a:srgbClr val="2638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83080"/>
            <a:ext cx="4892040" cy="1115568"/>
          </a:xfrm>
          <a:prstGeom prst="roundRect">
            <a:avLst>
              <a:gd name="adj" fmla="val 81967"/>
            </a:avLst>
          </a:prstGeom>
          <a:solidFill>
            <a:srgbClr val="111A2E"/>
          </a:solidFill>
          <a:ln w="10160">
            <a:solidFill>
              <a:srgbClr val="2638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83080"/>
            <a:ext cx="91440" cy="1115568"/>
          </a:xfrm>
          <a:prstGeom prst="rect">
            <a:avLst/>
          </a:prstGeom>
          <a:solidFill>
            <a:srgbClr val="FFCB66"/>
          </a:solidFill>
          <a:ln w="10160">
            <a:solidFill>
              <a:srgbClr val="FFCB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842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默认文案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40487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检查模板占位和与主题无关的残留文本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72200" y="1783080"/>
            <a:ext cx="4892040" cy="1115568"/>
          </a:xfrm>
          <a:prstGeom prst="roundRect">
            <a:avLst>
              <a:gd name="adj" fmla="val 81967"/>
            </a:avLst>
          </a:prstGeom>
          <a:solidFill>
            <a:srgbClr val="111A2E"/>
          </a:solidFill>
          <a:ln w="10160">
            <a:solidFill>
              <a:srgbClr val="2638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783080"/>
            <a:ext cx="91440" cy="1115568"/>
          </a:xfrm>
          <a:prstGeom prst="rect">
            <a:avLst/>
          </a:prstGeom>
          <a:solidFill>
            <a:srgbClr val="C0A8FF"/>
          </a:solidFill>
          <a:ln w="10160">
            <a:solidFill>
              <a:srgbClr val="C0A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842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素材路径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240487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确保图片已写入 deck，不能依赖原始绝对路径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3355848"/>
            <a:ext cx="4892040" cy="1115568"/>
          </a:xfrm>
          <a:prstGeom prst="roundRect">
            <a:avLst>
              <a:gd name="adj" fmla="val 81967"/>
            </a:avLst>
          </a:prstGeom>
          <a:solidFill>
            <a:srgbClr val="111A2E"/>
          </a:solidFill>
          <a:ln w="10160">
            <a:solidFill>
              <a:srgbClr val="2638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355848"/>
            <a:ext cx="91440" cy="1115568"/>
          </a:xfrm>
          <a:prstGeom prst="rect">
            <a:avLst/>
          </a:prstGeom>
          <a:solidFill>
            <a:srgbClr val="7EC8FF"/>
          </a:solidFill>
          <a:ln w="10160">
            <a:solidFill>
              <a:srgbClr val="7EC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5570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内容容量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397764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根据 fillPlan 控制数组数量和文字长度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55961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F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用自动化检查守住技术底线，再由人判断叙事是否有效。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AC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7CF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ACTIONS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下一步：从一次使用到团队标准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先用一个真实汇报场景跑通，再把主题、素材和验收规则沉淀为模板。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719072"/>
            <a:ext cx="10735056" cy="0"/>
          </a:xfrm>
          <a:prstGeom prst="line">
            <a:avLst/>
          </a:prstGeom>
          <a:noFill/>
          <a:ln w="8890">
            <a:solidFill>
              <a:srgbClr val="2638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74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FF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2057400" cy="0"/>
          </a:xfrm>
          <a:prstGeom prst="line">
            <a:avLst/>
          </a:prstGeom>
          <a:noFill/>
          <a:ln w="25400">
            <a:solidFill>
              <a:srgbClr val="7CFF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8529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立即克隆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把仓库放到团队可访问的工作目录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1874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FF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520440" y="2468880"/>
            <a:ext cx="2057400" cy="0"/>
          </a:xfrm>
          <a:prstGeom prst="line">
            <a:avLst/>
          </a:prstGeom>
          <a:noFill/>
          <a:ln w="25400">
            <a:solidFill>
              <a:srgbClr val="2638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28529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选择试点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37033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从一份 8–10 页的真实汇报开始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9360" y="1874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FF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09360" y="2468880"/>
            <a:ext cx="2057400" cy="0"/>
          </a:xfrm>
          <a:prstGeom prst="line">
            <a:avLst/>
          </a:prstGeom>
          <a:noFill/>
          <a:ln w="25400">
            <a:solidFill>
              <a:srgbClr val="2638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8529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复盘规则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37033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记录常用主题、版式和内容验收标准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5074920"/>
            <a:ext cx="10652760" cy="694944"/>
          </a:xfrm>
          <a:prstGeom prst="roundRect">
            <a:avLst>
              <a:gd name="adj" fmla="val 131579"/>
            </a:avLst>
          </a:prstGeom>
          <a:solidFill>
            <a:srgbClr val="14283A"/>
          </a:solidFill>
          <a:ln w="10160">
            <a:solidFill>
              <a:srgbClr val="7CFF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5294376"/>
            <a:ext cx="10012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F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最小可行路径是：克隆、打开 Antigravity、提出需求、保留源文件。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AC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132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7CF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1353312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让每一份 PPT 都可调用、可编辑、可复用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263347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Dashi PPT × Antigravity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3232" y="3886200"/>
            <a:ext cx="7726680" cy="914400"/>
          </a:xfrm>
          <a:prstGeom prst="roundRect">
            <a:avLst>
              <a:gd name="adj" fmla="val 100000"/>
            </a:avLst>
          </a:prstGeom>
          <a:solidFill>
            <a:srgbClr val="111A2E"/>
          </a:solidFill>
          <a:ln w="10160">
            <a:solidFill>
              <a:srgbClr val="2638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4123944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EC8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git clone -b arena/01a038e7-dashi-ppt-skill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4443984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AA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https://github.com/mqgg5630-cyber/dashi-ppt-skill.git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568756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F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从今天开始，把下一份汇报交给工作流。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03920" y="4709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C0A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 /  SKILL  /  PPTX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AC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Dashi 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Dashi PPT × Antigravity</dc:title>
  <dc:subject>展示 Dashi PPT 如何通过 Antigravity MCP 和 Agent Skill 生成可编辑 PPT</dc:subject>
  <dc:creator>Dashi PPT</dc:creator>
  <cp:lastModifiedBy>Dashi PPT</cp:lastModifiedBy>
  <cp:revision>1</cp:revision>
  <dcterms:created xsi:type="dcterms:W3CDTF">2026-08-26T02:54:11Z</dcterms:created>
  <dcterms:modified xsi:type="dcterms:W3CDTF">2026-08-26T02:54:11Z</dcterms:modified>
</cp:coreProperties>
</file>